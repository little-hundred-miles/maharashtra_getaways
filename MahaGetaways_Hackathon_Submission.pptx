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57" r:id="rId4"/>
    <p:sldId id="263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47" autoAdjust="0"/>
  </p:normalViewPr>
  <p:slideViewPr>
    <p:cSldViewPr snapToGrid="0">
      <p:cViewPr>
        <p:scale>
          <a:sx n="57" d="100"/>
          <a:sy n="57" d="100"/>
        </p:scale>
        <p:origin x="99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6CB0A-2448-CFB5-1ABE-D9EBDFF1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18C35-D040-4CE7-7311-C573FEB2B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91A459-4552-A0A7-87D9-18864B519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38E7F-024F-940E-5159-3062C633305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2784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00F19-15C5-CC28-F925-89CE7F008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6CEB1-803E-ED40-7CD7-7288180D8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8D889-290B-CF04-A27B-EC92669F8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13497-BC2C-A2D4-A882-7605FE248CA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0816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aharashtra-getaways.vercel.ap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est-panel">
            <a:extLst>
              <a:ext uri="{FF2B5EF4-FFF2-40B4-BE49-F238E27FC236}">
                <a16:creationId xmlns:a16="http://schemas.microsoft.com/office/drawing/2014/main" id="{EE53DB94-06BB-432A-B4EA-3DE4823C167B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4953000" cy="6858000"/>
          </a:xfrm>
          <a:prstGeom prst="rect">
            <a:avLst/>
          </a:prstGeom>
          <a:solidFill>
            <a:srgbClr val="0D2B1F"/>
          </a:solidFill>
          <a:ln w="0">
            <a:noFill/>
            <a:prstDash val="solid"/>
          </a:ln>
        </p:spPr>
        <p:txBody>
          <a:bodyPr/>
          <a:lstStyle/>
          <a:p>
            <a:endParaRPr lang="en-CA" dirty="0"/>
          </a:p>
        </p:txBody>
      </p:sp>
      <p:sp>
        <p:nvSpPr>
          <p:cNvPr id="2" name="orange-rule">
            <a:extLst>
              <a:ext uri="{FF2B5EF4-FFF2-40B4-BE49-F238E27FC236}">
                <a16:creationId xmlns:a16="http://schemas.microsoft.com/office/drawing/2014/main" id="{5BAA2D1E-17D9-4BC7-97E7-7BB28215CFCC}"/>
              </a:ext>
            </a:extLst>
          </p:cNvPr>
          <p:cNvSpPr>
            <a:spLocks noGrp="1"/>
          </p:cNvSpPr>
          <p:nvPr/>
        </p:nvSpPr>
        <p:spPr>
          <a:xfrm>
            <a:off x="685800" y="838200"/>
            <a:ext cx="876300" cy="47625"/>
          </a:xfrm>
          <a:prstGeom prst="rect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E4371360-9CC0-43A8-8043-625F97312A64}"/>
              </a:ext>
            </a:extLst>
          </p:cNvPr>
          <p:cNvSpPr>
            <a:spLocks noGrp="1"/>
          </p:cNvSpPr>
          <p:nvPr/>
        </p:nvSpPr>
        <p:spPr>
          <a:xfrm>
            <a:off x="7666463" y="742950"/>
            <a:ext cx="4410308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2400" b="0" dirty="0">
                <a:solidFill>
                  <a:schemeClr val="bg1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</a:rPr>
              <a:t>A marketplace for discovering and booking adventure experiences across Maharashtra.</a:t>
            </a:r>
          </a:p>
        </p:txBody>
      </p:sp>
      <p:sp>
        <p:nvSpPr>
          <p:cNvPr id="5" name="cover-editable-meta">
            <a:extLst>
              <a:ext uri="{FF2B5EF4-FFF2-40B4-BE49-F238E27FC236}">
                <a16:creationId xmlns:a16="http://schemas.microsoft.com/office/drawing/2014/main" id="{57AB63EB-734D-421E-B71A-DF08DAC6627B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295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275" b="0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Team name: </a:t>
            </a:r>
            <a:r>
              <a:rPr lang="en-US" altLang="zh-CN" sz="1275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Lu</a:t>
            </a:r>
            <a:r>
              <a:rPr lang="en-CA" altLang="zh-CN" sz="1275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cy</a:t>
            </a:r>
            <a:r>
              <a:rPr lang="zh-CN" altLang="en-US" sz="1275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 </a:t>
            </a:r>
            <a:r>
              <a:rPr lang="en-CA" altLang="zh-CN" sz="1275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Chen</a:t>
            </a:r>
            <a:endParaRPr sz="1275" b="0" dirty="0">
              <a:solidFill>
                <a:schemeClr val="tx1">
                  <a:lumMod val="95000"/>
                  <a:lumOff val="5000"/>
                </a:schemeClr>
              </a:solidFill>
              <a:latin typeface="DM Sans"/>
              <a:ea typeface="DM Sans"/>
              <a:cs typeface="DM Sans"/>
            </a:endParaRPr>
          </a:p>
          <a:p>
            <a:pPr algn="l">
              <a:defRPr sz="1275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lang="en-CA" sz="1275" b="0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2026/06/30</a:t>
            </a:r>
            <a:endParaRPr sz="1275" b="0" dirty="0">
              <a:solidFill>
                <a:schemeClr val="tx1">
                  <a:lumMod val="95000"/>
                  <a:lumOff val="5000"/>
                </a:schemeClr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6" name="cover-label">
            <a:extLst>
              <a:ext uri="{FF2B5EF4-FFF2-40B4-BE49-F238E27FC236}">
                <a16:creationId xmlns:a16="http://schemas.microsoft.com/office/drawing/2014/main" id="{5A21E497-D9E2-4517-94DA-7BF9259D90F3}"/>
              </a:ext>
            </a:extLst>
          </p:cNvPr>
          <p:cNvSpPr>
            <a:spLocks noGrp="1"/>
          </p:cNvSpPr>
          <p:nvPr/>
        </p:nvSpPr>
        <p:spPr>
          <a:xfrm>
            <a:off x="723899" y="5981700"/>
            <a:ext cx="374913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9ED83"/>
                </a:solidFill>
                <a:latin typeface="DM Sans"/>
                <a:ea typeface="DM Sans"/>
                <a:cs typeface="DM Sans"/>
              </a:defRPr>
            </a:pPr>
            <a:r>
              <a:rPr sz="1200" b="1" dirty="0">
                <a:solidFill>
                  <a:schemeClr val="accent3"/>
                </a:solidFill>
                <a:latin typeface="DM Sans"/>
                <a:ea typeface="DM Sans"/>
                <a:cs typeface="DM Sans"/>
              </a:rPr>
              <a:t>Hackathon</a:t>
            </a:r>
            <a:r>
              <a:rPr lang="en-CA" sz="1200" b="1" dirty="0">
                <a:solidFill>
                  <a:schemeClr val="accent3"/>
                </a:solidFill>
                <a:latin typeface="DM Sans"/>
                <a:ea typeface="DM Sans"/>
                <a:cs typeface="DM Sans"/>
              </a:rPr>
              <a:t>: Zero to Live Website Challenge</a:t>
            </a:r>
            <a:endParaRPr sz="1200" b="1" dirty="0">
              <a:solidFill>
                <a:schemeClr val="accent3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8762CAA4-D210-4E28-988A-80FB452AD8A1}"/>
              </a:ext>
            </a:extLst>
          </p:cNvPr>
          <p:cNvSpPr>
            <a:spLocks noGrp="1"/>
          </p:cNvSpPr>
          <p:nvPr/>
        </p:nvSpPr>
        <p:spPr>
          <a:xfrm>
            <a:off x="5734050" y="2184400"/>
            <a:ext cx="5829300" cy="3886200"/>
          </a:xfrm>
          <a:prstGeom prst="roundRect">
            <a:avLst>
              <a:gd name="adj" fmla="val 3922"/>
            </a:avLst>
          </a:prstGeom>
          <a:solidFill>
            <a:srgbClr val="F4F0E6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0" name="image-dot">
            <a:extLst>
              <a:ext uri="{FF2B5EF4-FFF2-40B4-BE49-F238E27FC236}">
                <a16:creationId xmlns:a16="http://schemas.microsoft.com/office/drawing/2014/main" id="{C214CA5B-3401-427F-AEA7-1084636C9CB8}"/>
              </a:ext>
            </a:extLst>
          </p:cNvPr>
          <p:cNvSpPr>
            <a:spLocks noGrp="1"/>
          </p:cNvSpPr>
          <p:nvPr/>
        </p:nvSpPr>
        <p:spPr>
          <a:xfrm>
            <a:off x="11239500" y="5772150"/>
            <a:ext cx="114300" cy="114300"/>
          </a:xfrm>
          <a:prstGeom prst="ellipse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12" name="Picture 11">
            <a:hlinkClick r:id="rId3"/>
            <a:extLst>
              <a:ext uri="{FF2B5EF4-FFF2-40B4-BE49-F238E27FC236}">
                <a16:creationId xmlns:a16="http://schemas.microsoft.com/office/drawing/2014/main" id="{CD1C3649-F6A4-6EC4-DAAD-E6508E7134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368550"/>
            <a:ext cx="5105400" cy="3403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809CCE0-89B8-F308-3743-7A0FD00B1B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60" y="1085850"/>
            <a:ext cx="4088631" cy="1420626"/>
          </a:xfrm>
          <a:prstGeom prst="rect">
            <a:avLst/>
          </a:prstGeom>
        </p:spPr>
      </p:pic>
      <p:sp>
        <p:nvSpPr>
          <p:cNvPr id="19" name="cover-subtitle">
            <a:extLst>
              <a:ext uri="{FF2B5EF4-FFF2-40B4-BE49-F238E27FC236}">
                <a16:creationId xmlns:a16="http://schemas.microsoft.com/office/drawing/2014/main" id="{0C585C6D-CC4F-A1DA-17FF-9EF5AB9B347F}"/>
              </a:ext>
            </a:extLst>
          </p:cNvPr>
          <p:cNvSpPr>
            <a:spLocks noGrp="1"/>
          </p:cNvSpPr>
          <p:nvPr/>
        </p:nvSpPr>
        <p:spPr>
          <a:xfrm>
            <a:off x="723899" y="2724149"/>
            <a:ext cx="4729047" cy="16368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Explore Maharashtra's adventures. </a:t>
            </a:r>
          </a:p>
          <a:p>
            <a:pPr>
              <a:defRPr sz="16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DM Sans"/>
                <a:ea typeface="DM Sans"/>
                <a:cs typeface="DM Sans"/>
              </a:rPr>
              <a:t>All in one place.</a:t>
            </a:r>
            <a:endParaRPr sz="3000" b="0" dirty="0">
              <a:solidFill>
                <a:schemeClr val="tx1">
                  <a:lumMod val="95000"/>
                  <a:lumOff val="5000"/>
                </a:schemeClr>
              </a:solidFill>
              <a:latin typeface="DM Sans"/>
              <a:ea typeface="DM Sans"/>
              <a:cs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654186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DD87-4EF3-5030-40D4-D264353A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est-panel">
            <a:extLst>
              <a:ext uri="{FF2B5EF4-FFF2-40B4-BE49-F238E27FC236}">
                <a16:creationId xmlns:a16="http://schemas.microsoft.com/office/drawing/2014/main" id="{C64B1DB3-4D0C-582F-996A-9A3357621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B1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" name="orange-rule">
            <a:extLst>
              <a:ext uri="{FF2B5EF4-FFF2-40B4-BE49-F238E27FC236}">
                <a16:creationId xmlns:a16="http://schemas.microsoft.com/office/drawing/2014/main" id="{7189BC8E-0DC0-6761-A8D7-88698207B353}"/>
              </a:ext>
            </a:extLst>
          </p:cNvPr>
          <p:cNvSpPr>
            <a:spLocks noGrp="1"/>
          </p:cNvSpPr>
          <p:nvPr/>
        </p:nvSpPr>
        <p:spPr>
          <a:xfrm>
            <a:off x="685800" y="838200"/>
            <a:ext cx="876300" cy="47625"/>
          </a:xfrm>
          <a:prstGeom prst="rect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9A0DE22B-7E50-B2C9-997C-834BCF42486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41719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525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4800" b="0" dirty="0" err="1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rPr>
              <a:t>MahaGetaways</a:t>
            </a:r>
            <a:endParaRPr sz="4800" b="0" dirty="0">
              <a:solidFill>
                <a:srgbClr val="FBFAF5"/>
              </a:solidFill>
              <a:latin typeface="DM Serif Display"/>
              <a:ea typeface="DM Serif Display"/>
              <a:cs typeface="DM Serif Display"/>
            </a:endParaRPr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4FCF9032-176B-453D-4F50-27B5F7133CDD}"/>
              </a:ext>
            </a:extLst>
          </p:cNvPr>
          <p:cNvSpPr>
            <a:spLocks noGrp="1"/>
          </p:cNvSpPr>
          <p:nvPr/>
        </p:nvSpPr>
        <p:spPr>
          <a:xfrm>
            <a:off x="723899" y="2724150"/>
            <a:ext cx="9969767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lang="en-US" sz="3000" dirty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Explore Maharashtra's adventures, all in one place.</a:t>
            </a:r>
            <a:endParaRPr sz="3000" b="0" dirty="0">
              <a:solidFill>
                <a:srgbClr val="F4F0E6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6" name="cover-label">
            <a:extLst>
              <a:ext uri="{FF2B5EF4-FFF2-40B4-BE49-F238E27FC236}">
                <a16:creationId xmlns:a16="http://schemas.microsoft.com/office/drawing/2014/main" id="{92FCA358-2CB4-37C4-0C00-2CC412BE30E0}"/>
              </a:ext>
            </a:extLst>
          </p:cNvPr>
          <p:cNvSpPr>
            <a:spLocks noGrp="1"/>
          </p:cNvSpPr>
          <p:nvPr/>
        </p:nvSpPr>
        <p:spPr>
          <a:xfrm>
            <a:off x="685800" y="5429250"/>
            <a:ext cx="374913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9ED83"/>
                </a:solidFill>
                <a:latin typeface="DM Sans"/>
                <a:ea typeface="DM Sans"/>
                <a:cs typeface="DM Sans"/>
              </a:defRPr>
            </a:pPr>
            <a:r>
              <a:rPr sz="1200" b="1" dirty="0">
                <a:solidFill>
                  <a:srgbClr val="D9ED83"/>
                </a:solidFill>
                <a:latin typeface="DM Sans"/>
                <a:ea typeface="DM Sans"/>
                <a:cs typeface="DM Sans"/>
              </a:rPr>
              <a:t>Hackathon</a:t>
            </a:r>
            <a:r>
              <a:rPr lang="en-CA" sz="1200" b="1" dirty="0">
                <a:solidFill>
                  <a:srgbClr val="D9ED83"/>
                </a:solidFill>
                <a:latin typeface="DM Sans"/>
                <a:ea typeface="DM Sans"/>
                <a:cs typeface="DM Sans"/>
              </a:rPr>
              <a:t>: Zero to Live Website Challenge</a:t>
            </a:r>
            <a:endParaRPr sz="1200" b="1" dirty="0">
              <a:solidFill>
                <a:srgbClr val="D9ED83"/>
              </a:solidFill>
              <a:latin typeface="DM Sans"/>
              <a:ea typeface="DM Sans"/>
              <a:cs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482641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CE9F993-A433-9396-A641-1FDBB39520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752" y="736667"/>
            <a:ext cx="5031907" cy="174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C4548-40BC-3AC5-5DB8-BE2CED2C5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-2-index">
            <a:extLst>
              <a:ext uri="{FF2B5EF4-FFF2-40B4-BE49-F238E27FC236}">
                <a16:creationId xmlns:a16="http://schemas.microsoft.com/office/drawing/2014/main" id="{854EAF59-4CD3-1B8C-DE02-FE984C90295E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02</a:t>
            </a:r>
          </a:p>
        </p:txBody>
      </p:sp>
      <p:sp>
        <p:nvSpPr>
          <p:cNvPr id="2" name="slide-2-title">
            <a:extLst>
              <a:ext uri="{FF2B5EF4-FFF2-40B4-BE49-F238E27FC236}">
                <a16:creationId xmlns:a16="http://schemas.microsoft.com/office/drawing/2014/main" id="{A393D476-0D4C-85D1-BFD1-42309436C457}"/>
              </a:ext>
            </a:extLst>
          </p:cNvPr>
          <p:cNvSpPr>
            <a:spLocks noGrp="1"/>
          </p:cNvSpPr>
          <p:nvPr/>
        </p:nvSpPr>
        <p:spPr>
          <a:xfrm>
            <a:off x="1200150" y="342900"/>
            <a:ext cx="809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Problem &amp; Solution</a:t>
            </a:r>
          </a:p>
        </p:txBody>
      </p:sp>
      <p:sp>
        <p:nvSpPr>
          <p:cNvPr id="3" name="slide-2-brand">
            <a:extLst>
              <a:ext uri="{FF2B5EF4-FFF2-40B4-BE49-F238E27FC236}">
                <a16:creationId xmlns:a16="http://schemas.microsoft.com/office/drawing/2014/main" id="{580A0013-2BF5-02F7-0CA4-6EA1701031A6}"/>
              </a:ext>
            </a:extLst>
          </p:cNvPr>
          <p:cNvSpPr>
            <a:spLocks noGrp="1"/>
          </p:cNvSpPr>
          <p:nvPr/>
        </p:nvSpPr>
        <p:spPr>
          <a:xfrm>
            <a:off x="10001250" y="495300"/>
            <a:ext cx="150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MahaGetaways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79AC9C5C-308A-A365-C1B2-E3C876448D86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4762500" cy="42291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5" name="problem-heading">
            <a:extLst>
              <a:ext uri="{FF2B5EF4-FFF2-40B4-BE49-F238E27FC236}">
                <a16:creationId xmlns:a16="http://schemas.microsoft.com/office/drawing/2014/main" id="{CC031542-A0AD-8EA0-71C0-68E55EC16CBB}"/>
              </a:ext>
            </a:extLst>
          </p:cNvPr>
          <p:cNvSpPr>
            <a:spLocks noGrp="1"/>
          </p:cNvSpPr>
          <p:nvPr/>
        </p:nvSpPr>
        <p:spPr>
          <a:xfrm>
            <a:off x="990600" y="15430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The Problem</a:t>
            </a:r>
          </a:p>
        </p:txBody>
      </p:sp>
      <p:sp>
        <p:nvSpPr>
          <p:cNvPr id="6" name="problem-bullets">
            <a:extLst>
              <a:ext uri="{FF2B5EF4-FFF2-40B4-BE49-F238E27FC236}">
                <a16:creationId xmlns:a16="http://schemas.microsoft.com/office/drawing/2014/main" id="{06A62F98-356B-64FE-7945-F382882594D8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38290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0" rIns="76200" bIns="0" anchor="t"/>
          <a:lstStyle/>
          <a:p>
            <a:pPr algn="l">
              <a:defRPr sz="1500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Adventure experiences are scattered across social media and individual operator pages.</a:t>
            </a:r>
          </a:p>
          <a:p>
            <a:pPr algn="l">
              <a:defRPr sz="1500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Comparing experiences is difficult.</a:t>
            </a:r>
          </a:p>
          <a:p>
            <a:pPr algn="l">
              <a:defRPr sz="1500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Booking lacks transparency and trust.</a:t>
            </a:r>
          </a:p>
        </p:txBody>
      </p:sp>
      <p:sp>
        <p:nvSpPr>
          <p:cNvPr id="7" name="orange-accent">
            <a:extLst>
              <a:ext uri="{FF2B5EF4-FFF2-40B4-BE49-F238E27FC236}">
                <a16:creationId xmlns:a16="http://schemas.microsoft.com/office/drawing/2014/main" id="{5B2A6F34-B785-F0B6-39FB-E81C975B68F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76200" cy="4229100"/>
          </a:xfrm>
          <a:prstGeom prst="rect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103D44F1-0980-F8A9-EE35-38097C732C6A}"/>
              </a:ext>
            </a:extLst>
          </p:cNvPr>
          <p:cNvSpPr>
            <a:spLocks noGrp="1"/>
          </p:cNvSpPr>
          <p:nvPr/>
        </p:nvSpPr>
        <p:spPr>
          <a:xfrm>
            <a:off x="5905500" y="1257300"/>
            <a:ext cx="5600700" cy="4229100"/>
          </a:xfrm>
          <a:prstGeom prst="roundRect">
            <a:avLst>
              <a:gd name="adj" fmla="val 3604"/>
            </a:avLst>
          </a:prstGeom>
          <a:solidFill>
            <a:srgbClr val="173D2B"/>
          </a:solidFill>
          <a:ln w="11430">
            <a:solidFill>
              <a:srgbClr val="173D2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9" name="solution-heading">
            <a:extLst>
              <a:ext uri="{FF2B5EF4-FFF2-40B4-BE49-F238E27FC236}">
                <a16:creationId xmlns:a16="http://schemas.microsoft.com/office/drawing/2014/main" id="{CD4561AF-1A3F-6638-9FA3-B8057EAB0F55}"/>
              </a:ext>
            </a:extLst>
          </p:cNvPr>
          <p:cNvSpPr>
            <a:spLocks noGrp="1"/>
          </p:cNvSpPr>
          <p:nvPr/>
        </p:nvSpPr>
        <p:spPr>
          <a:xfrm>
            <a:off x="6229350" y="15430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rPr>
              <a:t>Our Solution</a:t>
            </a:r>
          </a:p>
        </p:txBody>
      </p:sp>
      <p:sp>
        <p:nvSpPr>
          <p:cNvPr id="10" name="solution-copy">
            <a:extLst>
              <a:ext uri="{FF2B5EF4-FFF2-40B4-BE49-F238E27FC236}">
                <a16:creationId xmlns:a16="http://schemas.microsoft.com/office/drawing/2014/main" id="{73574AC7-4D2B-DDEE-69F6-26834CD1EBEE}"/>
              </a:ext>
            </a:extLst>
          </p:cNvPr>
          <p:cNvSpPr>
            <a:spLocks noGrp="1"/>
          </p:cNvSpPr>
          <p:nvPr/>
        </p:nvSpPr>
        <p:spPr>
          <a:xfrm>
            <a:off x="6248400" y="20383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MahaGetaways brings verified local adventure operators together into one marketplace where travellers can discover, compare, and book experiences with transparent pricing and a consistent booking process.</a:t>
            </a:r>
          </a:p>
        </p:txBody>
      </p:sp>
      <p:sp>
        <p:nvSpPr>
          <p:cNvPr id="11" name="flow-node">
            <a:extLst>
              <a:ext uri="{FF2B5EF4-FFF2-40B4-BE49-F238E27FC236}">
                <a16:creationId xmlns:a16="http://schemas.microsoft.com/office/drawing/2014/main" id="{7B339F88-6522-451B-9339-0543933FC611}"/>
              </a:ext>
            </a:extLst>
          </p:cNvPr>
          <p:cNvSpPr>
            <a:spLocks noGrp="1"/>
          </p:cNvSpPr>
          <p:nvPr/>
        </p:nvSpPr>
        <p:spPr>
          <a:xfrm>
            <a:off x="6800850" y="3352800"/>
            <a:ext cx="3810000" cy="457200"/>
          </a:xfrm>
          <a:prstGeom prst="roundRect">
            <a:avLst>
              <a:gd name="adj" fmla="val 25000"/>
            </a:avLst>
          </a:prstGeom>
          <a:solidFill>
            <a:srgbClr val="FBFAF5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flow-label">
            <a:extLst>
              <a:ext uri="{FF2B5EF4-FFF2-40B4-BE49-F238E27FC236}">
                <a16:creationId xmlns:a16="http://schemas.microsoft.com/office/drawing/2014/main" id="{DA6C5528-92A6-F702-97ED-D27786025FF8}"/>
              </a:ext>
            </a:extLst>
          </p:cNvPr>
          <p:cNvSpPr>
            <a:spLocks noGrp="1"/>
          </p:cNvSpPr>
          <p:nvPr/>
        </p:nvSpPr>
        <p:spPr>
          <a:xfrm>
            <a:off x="6800850" y="3457575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Traveller</a:t>
            </a:r>
          </a:p>
        </p:txBody>
      </p:sp>
      <p:sp>
        <p:nvSpPr>
          <p:cNvPr id="13" name="flow-node">
            <a:extLst>
              <a:ext uri="{FF2B5EF4-FFF2-40B4-BE49-F238E27FC236}">
                <a16:creationId xmlns:a16="http://schemas.microsoft.com/office/drawing/2014/main" id="{294FF6D3-5012-58F3-B616-6D83C4F74056}"/>
              </a:ext>
            </a:extLst>
          </p:cNvPr>
          <p:cNvSpPr>
            <a:spLocks noGrp="1"/>
          </p:cNvSpPr>
          <p:nvPr/>
        </p:nvSpPr>
        <p:spPr>
          <a:xfrm>
            <a:off x="6800850" y="4095750"/>
            <a:ext cx="3810000" cy="457200"/>
          </a:xfrm>
          <a:prstGeom prst="roundRect">
            <a:avLst>
              <a:gd name="adj" fmla="val 25000"/>
            </a:avLst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flow-label">
            <a:extLst>
              <a:ext uri="{FF2B5EF4-FFF2-40B4-BE49-F238E27FC236}">
                <a16:creationId xmlns:a16="http://schemas.microsoft.com/office/drawing/2014/main" id="{F4271111-0052-019C-C58F-DFAD808F19F1}"/>
              </a:ext>
            </a:extLst>
          </p:cNvPr>
          <p:cNvSpPr>
            <a:spLocks noGrp="1"/>
          </p:cNvSpPr>
          <p:nvPr/>
        </p:nvSpPr>
        <p:spPr>
          <a:xfrm>
            <a:off x="6800850" y="4200525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MahaGetaways Marketplace</a:t>
            </a:r>
          </a:p>
        </p:txBody>
      </p:sp>
      <p:sp>
        <p:nvSpPr>
          <p:cNvPr id="15" name="flow-node">
            <a:extLst>
              <a:ext uri="{FF2B5EF4-FFF2-40B4-BE49-F238E27FC236}">
                <a16:creationId xmlns:a16="http://schemas.microsoft.com/office/drawing/2014/main" id="{E954B433-0323-2522-F6D6-FB5784FAE2C6}"/>
              </a:ext>
            </a:extLst>
          </p:cNvPr>
          <p:cNvSpPr>
            <a:spLocks noGrp="1"/>
          </p:cNvSpPr>
          <p:nvPr/>
        </p:nvSpPr>
        <p:spPr>
          <a:xfrm>
            <a:off x="6800850" y="4838700"/>
            <a:ext cx="3810000" cy="457200"/>
          </a:xfrm>
          <a:prstGeom prst="roundRect">
            <a:avLst>
              <a:gd name="adj" fmla="val 25000"/>
            </a:avLst>
          </a:prstGeom>
          <a:solidFill>
            <a:srgbClr val="FBFAF5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flow-label">
            <a:extLst>
              <a:ext uri="{FF2B5EF4-FFF2-40B4-BE49-F238E27FC236}">
                <a16:creationId xmlns:a16="http://schemas.microsoft.com/office/drawing/2014/main" id="{BEBBD4A0-B614-08A5-5B87-3E9868A9D6AC}"/>
              </a:ext>
            </a:extLst>
          </p:cNvPr>
          <p:cNvSpPr>
            <a:spLocks noGrp="1"/>
          </p:cNvSpPr>
          <p:nvPr/>
        </p:nvSpPr>
        <p:spPr>
          <a:xfrm>
            <a:off x="6800850" y="4943475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Verified Local Operator</a:t>
            </a:r>
          </a:p>
        </p:txBody>
      </p:sp>
      <p:sp>
        <p:nvSpPr>
          <p:cNvPr id="17" name="flow-arrow">
            <a:extLst>
              <a:ext uri="{FF2B5EF4-FFF2-40B4-BE49-F238E27FC236}">
                <a16:creationId xmlns:a16="http://schemas.microsoft.com/office/drawing/2014/main" id="{FDFAA859-13F9-5955-BF07-F09914DD5064}"/>
              </a:ext>
            </a:extLst>
          </p:cNvPr>
          <p:cNvSpPr>
            <a:spLocks noGrp="1"/>
          </p:cNvSpPr>
          <p:nvPr/>
        </p:nvSpPr>
        <p:spPr>
          <a:xfrm>
            <a:off x="6800850" y="37719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950" b="0">
                <a:solidFill>
                  <a:srgbClr val="D9ED83"/>
                </a:solidFill>
                <a:latin typeface="DM Sans"/>
                <a:ea typeface="DM Sans"/>
                <a:cs typeface="DM Sans"/>
              </a:defRPr>
            </a:pPr>
            <a:r>
              <a:rPr sz="1950" b="0">
                <a:solidFill>
                  <a:srgbClr val="D9ED83"/>
                </a:solidFill>
                <a:latin typeface="DM Sans"/>
                <a:ea typeface="DM Sans"/>
                <a:cs typeface="DM Sans"/>
              </a:rPr>
              <a:t>↓</a:t>
            </a:r>
          </a:p>
        </p:txBody>
      </p:sp>
      <p:sp>
        <p:nvSpPr>
          <p:cNvPr id="18" name="flow-arrow">
            <a:extLst>
              <a:ext uri="{FF2B5EF4-FFF2-40B4-BE49-F238E27FC236}">
                <a16:creationId xmlns:a16="http://schemas.microsoft.com/office/drawing/2014/main" id="{4E66A50C-6628-CCD5-091F-223449D95E20}"/>
              </a:ext>
            </a:extLst>
          </p:cNvPr>
          <p:cNvSpPr>
            <a:spLocks noGrp="1"/>
          </p:cNvSpPr>
          <p:nvPr/>
        </p:nvSpPr>
        <p:spPr>
          <a:xfrm>
            <a:off x="6800850" y="451485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950" b="0">
                <a:solidFill>
                  <a:srgbClr val="D9ED83"/>
                </a:solidFill>
                <a:latin typeface="DM Sans"/>
                <a:ea typeface="DM Sans"/>
                <a:cs typeface="DM Sans"/>
              </a:defRPr>
            </a:pPr>
            <a:r>
              <a:rPr sz="1950" b="0">
                <a:solidFill>
                  <a:srgbClr val="D9ED83"/>
                </a:solidFill>
                <a:latin typeface="DM Sans"/>
                <a:ea typeface="DM Sans"/>
                <a:cs typeface="DM Sans"/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37395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3-index">
            <a:extLst>
              <a:ext uri="{FF2B5EF4-FFF2-40B4-BE49-F238E27FC236}">
                <a16:creationId xmlns:a16="http://schemas.microsoft.com/office/drawing/2014/main" id="{48CA09AA-DE3F-409C-916B-0193B34FF3E5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03</a:t>
            </a:r>
          </a:p>
        </p:txBody>
      </p:sp>
      <p:sp>
        <p:nvSpPr>
          <p:cNvPr id="2" name="slide-3-title">
            <a:extLst>
              <a:ext uri="{FF2B5EF4-FFF2-40B4-BE49-F238E27FC236}">
                <a16:creationId xmlns:a16="http://schemas.microsoft.com/office/drawing/2014/main" id="{E1099190-DC54-44C8-8A0A-AD0800CC12EE}"/>
              </a:ext>
            </a:extLst>
          </p:cNvPr>
          <p:cNvSpPr>
            <a:spLocks noGrp="1"/>
          </p:cNvSpPr>
          <p:nvPr/>
        </p:nvSpPr>
        <p:spPr>
          <a:xfrm>
            <a:off x="1200150" y="342900"/>
            <a:ext cx="809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Product Walkthrough</a:t>
            </a:r>
          </a:p>
        </p:txBody>
      </p:sp>
      <p:sp>
        <p:nvSpPr>
          <p:cNvPr id="3" name="slide-3-brand">
            <a:extLst>
              <a:ext uri="{FF2B5EF4-FFF2-40B4-BE49-F238E27FC236}">
                <a16:creationId xmlns:a16="http://schemas.microsoft.com/office/drawing/2014/main" id="{0714F265-5E84-4B24-8760-087D8B0A4746}"/>
              </a:ext>
            </a:extLst>
          </p:cNvPr>
          <p:cNvSpPr>
            <a:spLocks noGrp="1"/>
          </p:cNvSpPr>
          <p:nvPr/>
        </p:nvSpPr>
        <p:spPr>
          <a:xfrm>
            <a:off x="10001250" y="495300"/>
            <a:ext cx="150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MahaGetaways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DE9BEE73-2934-49DE-98DD-8856F1B8D9B6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2628900" cy="43243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rcRect l="27361" r="27361"/>
          <a:stretch>
            <a:fillRect/>
          </a:stretch>
        </p:blipFill>
        <p:spPr>
          <a:xfrm>
            <a:off x="685800" y="1409700"/>
            <a:ext cx="2362200" cy="2971800"/>
          </a:xfrm>
          <a:prstGeom prst="roundRect">
            <a:avLst>
              <a:gd name="adj" fmla="val 4839"/>
            </a:avLst>
          </a:prstGeom>
        </p:spPr>
      </p:pic>
      <p:sp>
        <p:nvSpPr>
          <p:cNvPr id="6" name="walkthrough-caption-title">
            <a:extLst>
              <a:ext uri="{FF2B5EF4-FFF2-40B4-BE49-F238E27FC236}">
                <a16:creationId xmlns:a16="http://schemas.microsoft.com/office/drawing/2014/main" id="{C0C01FF1-3377-4E56-A54D-C9F76AE8993F}"/>
              </a:ext>
            </a:extLst>
          </p:cNvPr>
          <p:cNvSpPr>
            <a:spLocks noGrp="1"/>
          </p:cNvSpPr>
          <p:nvPr/>
        </p:nvSpPr>
        <p:spPr>
          <a:xfrm>
            <a:off x="723900" y="45910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Homepage</a:t>
            </a:r>
          </a:p>
        </p:txBody>
      </p:sp>
      <p:sp>
        <p:nvSpPr>
          <p:cNvPr id="7" name="walkthrough-caption">
            <a:extLst>
              <a:ext uri="{FF2B5EF4-FFF2-40B4-BE49-F238E27FC236}">
                <a16:creationId xmlns:a16="http://schemas.microsoft.com/office/drawing/2014/main" id="{A0CDF66C-BA2B-4785-A778-084B2AF368B6}"/>
              </a:ext>
            </a:extLst>
          </p:cNvPr>
          <p:cNvSpPr>
            <a:spLocks noGrp="1"/>
          </p:cNvSpPr>
          <p:nvPr/>
        </p:nvSpPr>
        <p:spPr>
          <a:xfrm>
            <a:off x="723900" y="49720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Browse curated adventures</a:t>
            </a:r>
          </a:p>
        </p:txBody>
      </p:sp>
      <p:sp>
        <p:nvSpPr>
          <p:cNvPr id="8" name="walkthrough-arrow">
            <a:extLst>
              <a:ext uri="{FF2B5EF4-FFF2-40B4-BE49-F238E27FC236}">
                <a16:creationId xmlns:a16="http://schemas.microsoft.com/office/drawing/2014/main" id="{F19C3AA3-595D-447A-9253-2CBC98AE176F}"/>
              </a:ext>
            </a:extLst>
          </p:cNvPr>
          <p:cNvSpPr>
            <a:spLocks noGrp="1"/>
          </p:cNvSpPr>
          <p:nvPr/>
        </p:nvSpPr>
        <p:spPr>
          <a:xfrm>
            <a:off x="3200400" y="2971800"/>
            <a:ext cx="34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EB1DD86F-9B66-48E6-A75A-8282E28DF97E}"/>
              </a:ext>
            </a:extLst>
          </p:cNvPr>
          <p:cNvSpPr>
            <a:spLocks noGrp="1"/>
          </p:cNvSpPr>
          <p:nvPr/>
        </p:nvSpPr>
        <p:spPr>
          <a:xfrm>
            <a:off x="3371850" y="1257300"/>
            <a:ext cx="2628900" cy="43243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4"/>
          <a:srcRect l="27644" r="27644"/>
          <a:stretch>
            <a:fillRect/>
          </a:stretch>
        </p:blipFill>
        <p:spPr>
          <a:xfrm>
            <a:off x="3505200" y="1409700"/>
            <a:ext cx="2362200" cy="2971800"/>
          </a:xfrm>
          <a:prstGeom prst="roundRect">
            <a:avLst>
              <a:gd name="adj" fmla="val 4839"/>
            </a:avLst>
          </a:prstGeom>
        </p:spPr>
      </p:pic>
      <p:sp>
        <p:nvSpPr>
          <p:cNvPr id="11" name="walkthrough-caption-title">
            <a:extLst>
              <a:ext uri="{FF2B5EF4-FFF2-40B4-BE49-F238E27FC236}">
                <a16:creationId xmlns:a16="http://schemas.microsoft.com/office/drawing/2014/main" id="{870EDD8D-0A99-45C5-8890-B0071FA12F37}"/>
              </a:ext>
            </a:extLst>
          </p:cNvPr>
          <p:cNvSpPr>
            <a:spLocks noGrp="1"/>
          </p:cNvSpPr>
          <p:nvPr/>
        </p:nvSpPr>
        <p:spPr>
          <a:xfrm>
            <a:off x="3543300" y="45910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Experience Details</a:t>
            </a:r>
          </a:p>
        </p:txBody>
      </p:sp>
      <p:sp>
        <p:nvSpPr>
          <p:cNvPr id="12" name="walkthrough-caption">
            <a:extLst>
              <a:ext uri="{FF2B5EF4-FFF2-40B4-BE49-F238E27FC236}">
                <a16:creationId xmlns:a16="http://schemas.microsoft.com/office/drawing/2014/main" id="{CF9215B2-03F3-4DC9-9545-05013C5487A3}"/>
              </a:ext>
            </a:extLst>
          </p:cNvPr>
          <p:cNvSpPr>
            <a:spLocks noGrp="1"/>
          </p:cNvSpPr>
          <p:nvPr/>
        </p:nvSpPr>
        <p:spPr>
          <a:xfrm>
            <a:off x="3543300" y="49720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Review itinerary and operator</a:t>
            </a:r>
          </a:p>
        </p:txBody>
      </p:sp>
      <p:sp>
        <p:nvSpPr>
          <p:cNvPr id="13" name="walkthrough-arrow">
            <a:extLst>
              <a:ext uri="{FF2B5EF4-FFF2-40B4-BE49-F238E27FC236}">
                <a16:creationId xmlns:a16="http://schemas.microsoft.com/office/drawing/2014/main" id="{6DD15962-9FEA-4094-AED4-B56A4875C2D7}"/>
              </a:ext>
            </a:extLst>
          </p:cNvPr>
          <p:cNvSpPr>
            <a:spLocks noGrp="1"/>
          </p:cNvSpPr>
          <p:nvPr/>
        </p:nvSpPr>
        <p:spPr>
          <a:xfrm>
            <a:off x="6019800" y="2971800"/>
            <a:ext cx="34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4" name="card">
            <a:extLst>
              <a:ext uri="{FF2B5EF4-FFF2-40B4-BE49-F238E27FC236}">
                <a16:creationId xmlns:a16="http://schemas.microsoft.com/office/drawing/2014/main" id="{4FBDB013-BBC3-47A1-B845-10CC1DA54469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628900" cy="43243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5"/>
          <a:srcRect l="27644" r="27644"/>
          <a:stretch>
            <a:fillRect/>
          </a:stretch>
        </p:blipFill>
        <p:spPr>
          <a:xfrm>
            <a:off x="6324600" y="1409700"/>
            <a:ext cx="2362200" cy="2971800"/>
          </a:xfrm>
          <a:prstGeom prst="roundRect">
            <a:avLst>
              <a:gd name="adj" fmla="val 4839"/>
            </a:avLst>
          </a:prstGeom>
        </p:spPr>
      </p:pic>
      <p:sp>
        <p:nvSpPr>
          <p:cNvPr id="16" name="walkthrough-caption-title">
            <a:extLst>
              <a:ext uri="{FF2B5EF4-FFF2-40B4-BE49-F238E27FC236}">
                <a16:creationId xmlns:a16="http://schemas.microsoft.com/office/drawing/2014/main" id="{6BD18990-3599-436F-96FB-46DECF711A0D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Booking</a:t>
            </a:r>
          </a:p>
        </p:txBody>
      </p:sp>
      <p:sp>
        <p:nvSpPr>
          <p:cNvPr id="17" name="walkthrough-caption">
            <a:extLst>
              <a:ext uri="{FF2B5EF4-FFF2-40B4-BE49-F238E27FC236}">
                <a16:creationId xmlns:a16="http://schemas.microsoft.com/office/drawing/2014/main" id="{6E2CDF06-C5A9-4B55-9240-22DC5208C94C}"/>
              </a:ext>
            </a:extLst>
          </p:cNvPr>
          <p:cNvSpPr>
            <a:spLocks noGrp="1"/>
          </p:cNvSpPr>
          <p:nvPr/>
        </p:nvSpPr>
        <p:spPr>
          <a:xfrm>
            <a:off x="6362700" y="49720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Choose date and traveller details</a:t>
            </a:r>
          </a:p>
        </p:txBody>
      </p:sp>
      <p:sp>
        <p:nvSpPr>
          <p:cNvPr id="18" name="walkthrough-arrow">
            <a:extLst>
              <a:ext uri="{FF2B5EF4-FFF2-40B4-BE49-F238E27FC236}">
                <a16:creationId xmlns:a16="http://schemas.microsoft.com/office/drawing/2014/main" id="{39040108-C905-4D2C-A21B-407BB8A4B0DE}"/>
              </a:ext>
            </a:extLst>
          </p:cNvPr>
          <p:cNvSpPr>
            <a:spLocks noGrp="1"/>
          </p:cNvSpPr>
          <p:nvPr/>
        </p:nvSpPr>
        <p:spPr>
          <a:xfrm>
            <a:off x="8839200" y="2971800"/>
            <a:ext cx="34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9" name="card">
            <a:extLst>
              <a:ext uri="{FF2B5EF4-FFF2-40B4-BE49-F238E27FC236}">
                <a16:creationId xmlns:a16="http://schemas.microsoft.com/office/drawing/2014/main" id="{86A7753E-18A4-495D-8777-15CC865615C6}"/>
              </a:ext>
            </a:extLst>
          </p:cNvPr>
          <p:cNvSpPr>
            <a:spLocks noGrp="1"/>
          </p:cNvSpPr>
          <p:nvPr/>
        </p:nvSpPr>
        <p:spPr>
          <a:xfrm>
            <a:off x="9010650" y="1257300"/>
            <a:ext cx="2628900" cy="43243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6"/>
          <a:srcRect l="27644" r="27644"/>
          <a:stretch>
            <a:fillRect/>
          </a:stretch>
        </p:blipFill>
        <p:spPr>
          <a:xfrm>
            <a:off x="9144000" y="1409700"/>
            <a:ext cx="2362200" cy="2971800"/>
          </a:xfrm>
          <a:prstGeom prst="roundRect">
            <a:avLst>
              <a:gd name="adj" fmla="val 4839"/>
            </a:avLst>
          </a:prstGeom>
        </p:spPr>
      </p:pic>
      <p:sp>
        <p:nvSpPr>
          <p:cNvPr id="21" name="walkthrough-caption-title">
            <a:extLst>
              <a:ext uri="{FF2B5EF4-FFF2-40B4-BE49-F238E27FC236}">
                <a16:creationId xmlns:a16="http://schemas.microsoft.com/office/drawing/2014/main" id="{F7A83581-39AC-43A2-9BE2-E34AAB1FF016}"/>
              </a:ext>
            </a:extLst>
          </p:cNvPr>
          <p:cNvSpPr>
            <a:spLocks noGrp="1"/>
          </p:cNvSpPr>
          <p:nvPr/>
        </p:nvSpPr>
        <p:spPr>
          <a:xfrm>
            <a:off x="9182100" y="45910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8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Confirmation</a:t>
            </a:r>
          </a:p>
        </p:txBody>
      </p:sp>
      <p:sp>
        <p:nvSpPr>
          <p:cNvPr id="22" name="walkthrough-caption">
            <a:extLst>
              <a:ext uri="{FF2B5EF4-FFF2-40B4-BE49-F238E27FC236}">
                <a16:creationId xmlns:a16="http://schemas.microsoft.com/office/drawing/2014/main" id="{8ECA1195-93D4-41AF-A68C-C7373A325307}"/>
              </a:ext>
            </a:extLst>
          </p:cNvPr>
          <p:cNvSpPr>
            <a:spLocks noGrp="1"/>
          </p:cNvSpPr>
          <p:nvPr/>
        </p:nvSpPr>
        <p:spPr>
          <a:xfrm>
            <a:off x="9182100" y="49720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Receive reference and handoff</a:t>
            </a:r>
          </a:p>
        </p:txBody>
      </p:sp>
      <p:sp>
        <p:nvSpPr>
          <p:cNvPr id="23" name="walkthrough-note">
            <a:extLst>
              <a:ext uri="{FF2B5EF4-FFF2-40B4-BE49-F238E27FC236}">
                <a16:creationId xmlns:a16="http://schemas.microsoft.com/office/drawing/2014/main" id="{D0ABDC96-4361-4B8A-9CDE-DEBC6111808C}"/>
              </a:ext>
            </a:extLst>
          </p:cNvPr>
          <p:cNvSpPr>
            <a:spLocks noGrp="1"/>
          </p:cNvSpPr>
          <p:nvPr/>
        </p:nvSpPr>
        <p:spPr>
          <a:xfrm>
            <a:off x="800100" y="5962650"/>
            <a:ext cx="647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A simple path from discovery to confirmed operator handoff.</a:t>
            </a:r>
          </a:p>
        </p:txBody>
      </p:sp>
    </p:spTree>
    <p:extLst>
      <p:ext uri="{BB962C8B-B14F-4D97-AF65-F5344CB8AC3E}">
        <p14:creationId xmlns:p14="http://schemas.microsoft.com/office/powerpoint/2010/main" val="997352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-4-index">
            <a:extLst>
              <a:ext uri="{FF2B5EF4-FFF2-40B4-BE49-F238E27FC236}">
                <a16:creationId xmlns:a16="http://schemas.microsoft.com/office/drawing/2014/main" id="{18600FEB-F142-4B37-B7E7-6CC703B29A0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04</a:t>
            </a:r>
          </a:p>
        </p:txBody>
      </p:sp>
      <p:sp>
        <p:nvSpPr>
          <p:cNvPr id="2" name="slide-4-title">
            <a:extLst>
              <a:ext uri="{FF2B5EF4-FFF2-40B4-BE49-F238E27FC236}">
                <a16:creationId xmlns:a16="http://schemas.microsoft.com/office/drawing/2014/main" id="{886BA7D5-2F8C-4A23-A6E6-7DA2AC681837}"/>
              </a:ext>
            </a:extLst>
          </p:cNvPr>
          <p:cNvSpPr>
            <a:spLocks noGrp="1"/>
          </p:cNvSpPr>
          <p:nvPr/>
        </p:nvSpPr>
        <p:spPr>
          <a:xfrm>
            <a:off x="1200150" y="342900"/>
            <a:ext cx="809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Key Features</a:t>
            </a:r>
          </a:p>
        </p:txBody>
      </p:sp>
      <p:sp>
        <p:nvSpPr>
          <p:cNvPr id="3" name="slide-4-brand">
            <a:extLst>
              <a:ext uri="{FF2B5EF4-FFF2-40B4-BE49-F238E27FC236}">
                <a16:creationId xmlns:a16="http://schemas.microsoft.com/office/drawing/2014/main" id="{27BE6FF3-D40B-480F-AD66-F1A04B61E335}"/>
              </a:ext>
            </a:extLst>
          </p:cNvPr>
          <p:cNvSpPr>
            <a:spLocks noGrp="1"/>
          </p:cNvSpPr>
          <p:nvPr/>
        </p:nvSpPr>
        <p:spPr>
          <a:xfrm>
            <a:off x="10001250" y="495300"/>
            <a:ext cx="150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MahaGetaways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007FF44F-0127-4990-B12C-06722E76976D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5" name="icon-circle">
            <a:extLst>
              <a:ext uri="{FF2B5EF4-FFF2-40B4-BE49-F238E27FC236}">
                <a16:creationId xmlns:a16="http://schemas.microsoft.com/office/drawing/2014/main" id="{03C36FBA-25E4-4D9B-9B8B-80D7D2916C4B}"/>
              </a:ext>
            </a:extLst>
          </p:cNvPr>
          <p:cNvSpPr>
            <a:spLocks noGrp="1"/>
          </p:cNvSpPr>
          <p:nvPr/>
        </p:nvSpPr>
        <p:spPr>
          <a:xfrm>
            <a:off x="895350" y="146685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editable-icon">
            <a:extLst>
              <a:ext uri="{FF2B5EF4-FFF2-40B4-BE49-F238E27FC236}">
                <a16:creationId xmlns:a16="http://schemas.microsoft.com/office/drawing/2014/main" id="{4F071243-C73E-44CF-956D-2F856A9CA241}"/>
              </a:ext>
            </a:extLst>
          </p:cNvPr>
          <p:cNvSpPr>
            <a:spLocks noGrp="1"/>
          </p:cNvSpPr>
          <p:nvPr/>
        </p:nvSpPr>
        <p:spPr>
          <a:xfrm>
            <a:off x="895350" y="14859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⌕</a:t>
            </a:r>
          </a:p>
        </p:txBody>
      </p:sp>
      <p:sp>
        <p:nvSpPr>
          <p:cNvPr id="7" name="feature-title">
            <a:extLst>
              <a:ext uri="{FF2B5EF4-FFF2-40B4-BE49-F238E27FC236}">
                <a16:creationId xmlns:a16="http://schemas.microsoft.com/office/drawing/2014/main" id="{41B180AB-00A6-416F-84DF-0CEC419DACFA}"/>
              </a:ext>
            </a:extLst>
          </p:cNvPr>
          <p:cNvSpPr>
            <a:spLocks noGrp="1"/>
          </p:cNvSpPr>
          <p:nvPr/>
        </p:nvSpPr>
        <p:spPr>
          <a:xfrm>
            <a:off x="1485900" y="14763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Adventure Discovery</a:t>
            </a:r>
          </a:p>
        </p:txBody>
      </p:sp>
      <p:sp>
        <p:nvSpPr>
          <p:cNvPr id="8" name="feature-copy">
            <a:extLst>
              <a:ext uri="{FF2B5EF4-FFF2-40B4-BE49-F238E27FC236}">
                <a16:creationId xmlns:a16="http://schemas.microsoft.com/office/drawing/2014/main" id="{4C868891-957C-4864-8B91-341BD7C34169}"/>
              </a:ext>
            </a:extLst>
          </p:cNvPr>
          <p:cNvSpPr>
            <a:spLocks noGrp="1"/>
          </p:cNvSpPr>
          <p:nvPr/>
        </p:nvSpPr>
        <p:spPr>
          <a:xfrm>
            <a:off x="1485900" y="18288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Browse six curated outdoor experiences across Maharashtra.</a:t>
            </a:r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1DE992C0-1090-4EC5-99E6-05940A2C0F88}"/>
              </a:ext>
            </a:extLst>
          </p:cNvPr>
          <p:cNvSpPr>
            <a:spLocks noGrp="1"/>
          </p:cNvSpPr>
          <p:nvPr/>
        </p:nvSpPr>
        <p:spPr>
          <a:xfrm>
            <a:off x="4400550" y="12382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0" name="icon-circle">
            <a:extLst>
              <a:ext uri="{FF2B5EF4-FFF2-40B4-BE49-F238E27FC236}">
                <a16:creationId xmlns:a16="http://schemas.microsoft.com/office/drawing/2014/main" id="{C62E5B34-6819-4B84-97FB-22EAB3D82B11}"/>
              </a:ext>
            </a:extLst>
          </p:cNvPr>
          <p:cNvSpPr>
            <a:spLocks noGrp="1"/>
          </p:cNvSpPr>
          <p:nvPr/>
        </p:nvSpPr>
        <p:spPr>
          <a:xfrm>
            <a:off x="4610100" y="1466850"/>
            <a:ext cx="419100" cy="419100"/>
          </a:xfrm>
          <a:prstGeom prst="ellipse">
            <a:avLst/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editable-icon">
            <a:extLst>
              <a:ext uri="{FF2B5EF4-FFF2-40B4-BE49-F238E27FC236}">
                <a16:creationId xmlns:a16="http://schemas.microsoft.com/office/drawing/2014/main" id="{D58E7858-072E-4169-A36E-53C6BAEC0721}"/>
              </a:ext>
            </a:extLst>
          </p:cNvPr>
          <p:cNvSpPr>
            <a:spLocks noGrp="1"/>
          </p:cNvSpPr>
          <p:nvPr/>
        </p:nvSpPr>
        <p:spPr>
          <a:xfrm>
            <a:off x="4610100" y="14859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▣</a:t>
            </a:r>
          </a:p>
        </p:txBody>
      </p:sp>
      <p:sp>
        <p:nvSpPr>
          <p:cNvPr id="12" name="feature-title">
            <a:extLst>
              <a:ext uri="{FF2B5EF4-FFF2-40B4-BE49-F238E27FC236}">
                <a16:creationId xmlns:a16="http://schemas.microsoft.com/office/drawing/2014/main" id="{B3EE798D-5C3E-4C30-9812-FB43292051A4}"/>
              </a:ext>
            </a:extLst>
          </p:cNvPr>
          <p:cNvSpPr>
            <a:spLocks noGrp="1"/>
          </p:cNvSpPr>
          <p:nvPr/>
        </p:nvSpPr>
        <p:spPr>
          <a:xfrm>
            <a:off x="5200650" y="14763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Smart Filtering</a:t>
            </a:r>
          </a:p>
        </p:txBody>
      </p:sp>
      <p:sp>
        <p:nvSpPr>
          <p:cNvPr id="13" name="feature-copy">
            <a:extLst>
              <a:ext uri="{FF2B5EF4-FFF2-40B4-BE49-F238E27FC236}">
                <a16:creationId xmlns:a16="http://schemas.microsoft.com/office/drawing/2014/main" id="{F64AD12E-60D6-4A6F-8F66-7C4211E92690}"/>
              </a:ext>
            </a:extLst>
          </p:cNvPr>
          <p:cNvSpPr>
            <a:spLocks noGrp="1"/>
          </p:cNvSpPr>
          <p:nvPr/>
        </p:nvSpPr>
        <p:spPr>
          <a:xfrm>
            <a:off x="5200650" y="18288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Narrow trips by activity or destination.</a:t>
            </a:r>
          </a:p>
        </p:txBody>
      </p:sp>
      <p:sp>
        <p:nvSpPr>
          <p:cNvPr id="14" name="card">
            <a:extLst>
              <a:ext uri="{FF2B5EF4-FFF2-40B4-BE49-F238E27FC236}">
                <a16:creationId xmlns:a16="http://schemas.microsoft.com/office/drawing/2014/main" id="{1A7BD99B-E84E-46B9-B0CD-95D6DEAE8B9D}"/>
              </a:ext>
            </a:extLst>
          </p:cNvPr>
          <p:cNvSpPr>
            <a:spLocks noGrp="1"/>
          </p:cNvSpPr>
          <p:nvPr/>
        </p:nvSpPr>
        <p:spPr>
          <a:xfrm>
            <a:off x="8115300" y="12382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5" name="icon-circle">
            <a:extLst>
              <a:ext uri="{FF2B5EF4-FFF2-40B4-BE49-F238E27FC236}">
                <a16:creationId xmlns:a16="http://schemas.microsoft.com/office/drawing/2014/main" id="{7BBA5357-0935-431F-86CC-4EB2B5DB95ED}"/>
              </a:ext>
            </a:extLst>
          </p:cNvPr>
          <p:cNvSpPr>
            <a:spLocks noGrp="1"/>
          </p:cNvSpPr>
          <p:nvPr/>
        </p:nvSpPr>
        <p:spPr>
          <a:xfrm>
            <a:off x="8324850" y="146685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editable-icon">
            <a:extLst>
              <a:ext uri="{FF2B5EF4-FFF2-40B4-BE49-F238E27FC236}">
                <a16:creationId xmlns:a16="http://schemas.microsoft.com/office/drawing/2014/main" id="{A541A46F-B2E8-43D1-AA2E-8A21489FB2D6}"/>
              </a:ext>
            </a:extLst>
          </p:cNvPr>
          <p:cNvSpPr>
            <a:spLocks noGrp="1"/>
          </p:cNvSpPr>
          <p:nvPr/>
        </p:nvSpPr>
        <p:spPr>
          <a:xfrm>
            <a:off x="8324850" y="14859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☰</a:t>
            </a:r>
          </a:p>
        </p:txBody>
      </p:sp>
      <p:sp>
        <p:nvSpPr>
          <p:cNvPr id="17" name="feature-title">
            <a:extLst>
              <a:ext uri="{FF2B5EF4-FFF2-40B4-BE49-F238E27FC236}">
                <a16:creationId xmlns:a16="http://schemas.microsoft.com/office/drawing/2014/main" id="{B35ED66D-BF85-499F-B096-943960131A9B}"/>
              </a:ext>
            </a:extLst>
          </p:cNvPr>
          <p:cNvSpPr>
            <a:spLocks noGrp="1"/>
          </p:cNvSpPr>
          <p:nvPr/>
        </p:nvSpPr>
        <p:spPr>
          <a:xfrm>
            <a:off x="8915400" y="14763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Detailed Pages</a:t>
            </a:r>
          </a:p>
        </p:txBody>
      </p:sp>
      <p:sp>
        <p:nvSpPr>
          <p:cNvPr id="18" name="feature-copy">
            <a:extLst>
              <a:ext uri="{FF2B5EF4-FFF2-40B4-BE49-F238E27FC236}">
                <a16:creationId xmlns:a16="http://schemas.microsoft.com/office/drawing/2014/main" id="{24F31169-A7E0-49FA-BF72-E0214A9488C5}"/>
              </a:ext>
            </a:extLst>
          </p:cNvPr>
          <p:cNvSpPr>
            <a:spLocks noGrp="1"/>
          </p:cNvSpPr>
          <p:nvPr/>
        </p:nvSpPr>
        <p:spPr>
          <a:xfrm>
            <a:off x="8915400" y="18288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See itinerary, inclusions, difficulty and operator info.</a:t>
            </a:r>
          </a:p>
        </p:txBody>
      </p:sp>
      <p:sp>
        <p:nvSpPr>
          <p:cNvPr id="19" name="card">
            <a:extLst>
              <a:ext uri="{FF2B5EF4-FFF2-40B4-BE49-F238E27FC236}">
                <a16:creationId xmlns:a16="http://schemas.microsoft.com/office/drawing/2014/main" id="{856C6D08-B5D1-417A-B828-ED0F4DEDB008}"/>
              </a:ext>
            </a:extLst>
          </p:cNvPr>
          <p:cNvSpPr>
            <a:spLocks noGrp="1"/>
          </p:cNvSpPr>
          <p:nvPr/>
        </p:nvSpPr>
        <p:spPr>
          <a:xfrm>
            <a:off x="685800" y="270510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20" name="icon-circle">
            <a:extLst>
              <a:ext uri="{FF2B5EF4-FFF2-40B4-BE49-F238E27FC236}">
                <a16:creationId xmlns:a16="http://schemas.microsoft.com/office/drawing/2014/main" id="{2BE6A80E-5093-4EDD-9D45-6A441146E127}"/>
              </a:ext>
            </a:extLst>
          </p:cNvPr>
          <p:cNvSpPr>
            <a:spLocks noGrp="1"/>
          </p:cNvSpPr>
          <p:nvPr/>
        </p:nvSpPr>
        <p:spPr>
          <a:xfrm>
            <a:off x="895350" y="2933700"/>
            <a:ext cx="419100" cy="419100"/>
          </a:xfrm>
          <a:prstGeom prst="ellipse">
            <a:avLst/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editable-icon">
            <a:extLst>
              <a:ext uri="{FF2B5EF4-FFF2-40B4-BE49-F238E27FC236}">
                <a16:creationId xmlns:a16="http://schemas.microsoft.com/office/drawing/2014/main" id="{D3AB1D1F-DADA-4E7E-976C-63B796EF27C4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₹</a:t>
            </a:r>
          </a:p>
        </p:txBody>
      </p:sp>
      <p:sp>
        <p:nvSpPr>
          <p:cNvPr id="22" name="feature-title">
            <a:extLst>
              <a:ext uri="{FF2B5EF4-FFF2-40B4-BE49-F238E27FC236}">
                <a16:creationId xmlns:a16="http://schemas.microsoft.com/office/drawing/2014/main" id="{EAF872F7-3DED-41BB-916E-4F3DFBF6DF1F}"/>
              </a:ext>
            </a:extLst>
          </p:cNvPr>
          <p:cNvSpPr>
            <a:spLocks noGrp="1"/>
          </p:cNvSpPr>
          <p:nvPr/>
        </p:nvSpPr>
        <p:spPr>
          <a:xfrm>
            <a:off x="1485900" y="294322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Transparent Pricing</a:t>
            </a:r>
          </a:p>
        </p:txBody>
      </p:sp>
      <p:sp>
        <p:nvSpPr>
          <p:cNvPr id="23" name="feature-copy">
            <a:extLst>
              <a:ext uri="{FF2B5EF4-FFF2-40B4-BE49-F238E27FC236}">
                <a16:creationId xmlns:a16="http://schemas.microsoft.com/office/drawing/2014/main" id="{819BC744-A803-4B5A-B657-C900AEF59E4B}"/>
              </a:ext>
            </a:extLst>
          </p:cNvPr>
          <p:cNvSpPr>
            <a:spLocks noGrp="1"/>
          </p:cNvSpPr>
          <p:nvPr/>
        </p:nvSpPr>
        <p:spPr>
          <a:xfrm>
            <a:off x="1485900" y="329565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Review cost and 4% platform fee before checkout.</a:t>
            </a:r>
          </a:p>
        </p:txBody>
      </p:sp>
      <p:sp>
        <p:nvSpPr>
          <p:cNvPr id="24" name="card">
            <a:extLst>
              <a:ext uri="{FF2B5EF4-FFF2-40B4-BE49-F238E27FC236}">
                <a16:creationId xmlns:a16="http://schemas.microsoft.com/office/drawing/2014/main" id="{E45B9E36-366F-439F-9806-8692E47126DF}"/>
              </a:ext>
            </a:extLst>
          </p:cNvPr>
          <p:cNvSpPr>
            <a:spLocks noGrp="1"/>
          </p:cNvSpPr>
          <p:nvPr/>
        </p:nvSpPr>
        <p:spPr>
          <a:xfrm>
            <a:off x="4400550" y="270510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25" name="icon-circle">
            <a:extLst>
              <a:ext uri="{FF2B5EF4-FFF2-40B4-BE49-F238E27FC236}">
                <a16:creationId xmlns:a16="http://schemas.microsoft.com/office/drawing/2014/main" id="{58A1A767-DFA6-4BF8-86EE-1A16F7F25AB2}"/>
              </a:ext>
            </a:extLst>
          </p:cNvPr>
          <p:cNvSpPr>
            <a:spLocks noGrp="1"/>
          </p:cNvSpPr>
          <p:nvPr/>
        </p:nvSpPr>
        <p:spPr>
          <a:xfrm>
            <a:off x="4610100" y="293370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editable-icon">
            <a:extLst>
              <a:ext uri="{FF2B5EF4-FFF2-40B4-BE49-F238E27FC236}">
                <a16:creationId xmlns:a16="http://schemas.microsoft.com/office/drawing/2014/main" id="{CE7A24B9-CA24-498F-BAEB-89C2A803D6B9}"/>
              </a:ext>
            </a:extLst>
          </p:cNvPr>
          <p:cNvSpPr>
            <a:spLocks noGrp="1"/>
          </p:cNvSpPr>
          <p:nvPr/>
        </p:nvSpPr>
        <p:spPr>
          <a:xfrm>
            <a:off x="4610100" y="29527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✓</a:t>
            </a:r>
          </a:p>
        </p:txBody>
      </p:sp>
      <p:sp>
        <p:nvSpPr>
          <p:cNvPr id="27" name="feature-title">
            <a:extLst>
              <a:ext uri="{FF2B5EF4-FFF2-40B4-BE49-F238E27FC236}">
                <a16:creationId xmlns:a16="http://schemas.microsoft.com/office/drawing/2014/main" id="{6DA49F46-C3EE-48AA-A440-D2D39EEF204F}"/>
              </a:ext>
            </a:extLst>
          </p:cNvPr>
          <p:cNvSpPr>
            <a:spLocks noGrp="1"/>
          </p:cNvSpPr>
          <p:nvPr/>
        </p:nvSpPr>
        <p:spPr>
          <a:xfrm>
            <a:off x="5200650" y="294322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Verified Operators</a:t>
            </a:r>
          </a:p>
        </p:txBody>
      </p:sp>
      <p:sp>
        <p:nvSpPr>
          <p:cNvPr id="28" name="feature-copy">
            <a:extLst>
              <a:ext uri="{FF2B5EF4-FFF2-40B4-BE49-F238E27FC236}">
                <a16:creationId xmlns:a16="http://schemas.microsoft.com/office/drawing/2014/main" id="{04EBEE0A-7578-4ACF-BC4F-6998B1DBBD54}"/>
              </a:ext>
            </a:extLst>
          </p:cNvPr>
          <p:cNvSpPr>
            <a:spLocks noGrp="1"/>
          </p:cNvSpPr>
          <p:nvPr/>
        </p:nvSpPr>
        <p:spPr>
          <a:xfrm>
            <a:off x="5200650" y="329565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Profiles show ratings, trips and hosting history.</a:t>
            </a:r>
          </a:p>
        </p:txBody>
      </p:sp>
      <p:sp>
        <p:nvSpPr>
          <p:cNvPr id="29" name="card">
            <a:extLst>
              <a:ext uri="{FF2B5EF4-FFF2-40B4-BE49-F238E27FC236}">
                <a16:creationId xmlns:a16="http://schemas.microsoft.com/office/drawing/2014/main" id="{F61B4AA5-3C80-4073-A801-0D87032C4DFB}"/>
              </a:ext>
            </a:extLst>
          </p:cNvPr>
          <p:cNvSpPr>
            <a:spLocks noGrp="1"/>
          </p:cNvSpPr>
          <p:nvPr/>
        </p:nvSpPr>
        <p:spPr>
          <a:xfrm>
            <a:off x="8115300" y="270510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30" name="icon-circle">
            <a:extLst>
              <a:ext uri="{FF2B5EF4-FFF2-40B4-BE49-F238E27FC236}">
                <a16:creationId xmlns:a16="http://schemas.microsoft.com/office/drawing/2014/main" id="{532F7919-6D71-4EDE-B7F1-30195862B4CD}"/>
              </a:ext>
            </a:extLst>
          </p:cNvPr>
          <p:cNvSpPr>
            <a:spLocks noGrp="1"/>
          </p:cNvSpPr>
          <p:nvPr/>
        </p:nvSpPr>
        <p:spPr>
          <a:xfrm>
            <a:off x="8324850" y="2933700"/>
            <a:ext cx="419100" cy="419100"/>
          </a:xfrm>
          <a:prstGeom prst="ellipse">
            <a:avLst/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editable-icon">
            <a:extLst>
              <a:ext uri="{FF2B5EF4-FFF2-40B4-BE49-F238E27FC236}">
                <a16:creationId xmlns:a16="http://schemas.microsoft.com/office/drawing/2014/main" id="{5E0EDA4B-DB3F-4A11-A7E8-2FCD1082EB7D}"/>
              </a:ext>
            </a:extLst>
          </p:cNvPr>
          <p:cNvSpPr>
            <a:spLocks noGrp="1"/>
          </p:cNvSpPr>
          <p:nvPr/>
        </p:nvSpPr>
        <p:spPr>
          <a:xfrm>
            <a:off x="8324850" y="29527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32" name="feature-title">
            <a:extLst>
              <a:ext uri="{FF2B5EF4-FFF2-40B4-BE49-F238E27FC236}">
                <a16:creationId xmlns:a16="http://schemas.microsoft.com/office/drawing/2014/main" id="{767085C3-3031-4B12-AEEE-2FAC96EB6BC6}"/>
              </a:ext>
            </a:extLst>
          </p:cNvPr>
          <p:cNvSpPr>
            <a:spLocks noGrp="1"/>
          </p:cNvSpPr>
          <p:nvPr/>
        </p:nvSpPr>
        <p:spPr>
          <a:xfrm>
            <a:off x="8915400" y="294322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Guided Booking</a:t>
            </a:r>
          </a:p>
        </p:txBody>
      </p:sp>
      <p:sp>
        <p:nvSpPr>
          <p:cNvPr id="33" name="feature-copy">
            <a:extLst>
              <a:ext uri="{FF2B5EF4-FFF2-40B4-BE49-F238E27FC236}">
                <a16:creationId xmlns:a16="http://schemas.microsoft.com/office/drawing/2014/main" id="{0687A59F-0F48-491A-A93B-CC0C7578D8FF}"/>
              </a:ext>
            </a:extLst>
          </p:cNvPr>
          <p:cNvSpPr>
            <a:spLocks noGrp="1"/>
          </p:cNvSpPr>
          <p:nvPr/>
        </p:nvSpPr>
        <p:spPr>
          <a:xfrm>
            <a:off x="8915400" y="329565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Choose date, group size and traveller details.</a:t>
            </a:r>
          </a:p>
        </p:txBody>
      </p:sp>
      <p:sp>
        <p:nvSpPr>
          <p:cNvPr id="34" name="card">
            <a:extLst>
              <a:ext uri="{FF2B5EF4-FFF2-40B4-BE49-F238E27FC236}">
                <a16:creationId xmlns:a16="http://schemas.microsoft.com/office/drawing/2014/main" id="{59B203E2-6513-4B77-B519-A3EEAF868FBE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35" name="icon-circle">
            <a:extLst>
              <a:ext uri="{FF2B5EF4-FFF2-40B4-BE49-F238E27FC236}">
                <a16:creationId xmlns:a16="http://schemas.microsoft.com/office/drawing/2014/main" id="{ED284D1E-4035-47E3-8BD6-81356B5E2767}"/>
              </a:ext>
            </a:extLst>
          </p:cNvPr>
          <p:cNvSpPr>
            <a:spLocks noGrp="1"/>
          </p:cNvSpPr>
          <p:nvPr/>
        </p:nvSpPr>
        <p:spPr>
          <a:xfrm>
            <a:off x="895350" y="440055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editable-icon">
            <a:extLst>
              <a:ext uri="{FF2B5EF4-FFF2-40B4-BE49-F238E27FC236}">
                <a16:creationId xmlns:a16="http://schemas.microsoft.com/office/drawing/2014/main" id="{97176950-DF67-4CAE-A1C1-0E93D9E838F0}"/>
              </a:ext>
            </a:extLst>
          </p:cNvPr>
          <p:cNvSpPr>
            <a:spLocks noGrp="1"/>
          </p:cNvSpPr>
          <p:nvPr/>
        </p:nvSpPr>
        <p:spPr>
          <a:xfrm>
            <a:off x="895350" y="44196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●</a:t>
            </a:r>
          </a:p>
        </p:txBody>
      </p:sp>
      <p:sp>
        <p:nvSpPr>
          <p:cNvPr id="37" name="feature-title">
            <a:extLst>
              <a:ext uri="{FF2B5EF4-FFF2-40B4-BE49-F238E27FC236}">
                <a16:creationId xmlns:a16="http://schemas.microsoft.com/office/drawing/2014/main" id="{5265E15F-2CC8-4545-B411-AB9C13D2B479}"/>
              </a:ext>
            </a:extLst>
          </p:cNvPr>
          <p:cNvSpPr>
            <a:spLocks noGrp="1"/>
          </p:cNvSpPr>
          <p:nvPr/>
        </p:nvSpPr>
        <p:spPr>
          <a:xfrm>
            <a:off x="1485900" y="44100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Demo Payment</a:t>
            </a:r>
          </a:p>
        </p:txBody>
      </p:sp>
      <p:sp>
        <p:nvSpPr>
          <p:cNvPr id="38" name="feature-copy">
            <a:extLst>
              <a:ext uri="{FF2B5EF4-FFF2-40B4-BE49-F238E27FC236}">
                <a16:creationId xmlns:a16="http://schemas.microsoft.com/office/drawing/2014/main" id="{8F893FDE-E888-4C32-B84E-563D49693F4F}"/>
              </a:ext>
            </a:extLst>
          </p:cNvPr>
          <p:cNvSpPr>
            <a:spLocks noGrp="1"/>
          </p:cNvSpPr>
          <p:nvPr/>
        </p:nvSpPr>
        <p:spPr>
          <a:xfrm>
            <a:off x="1485900" y="47625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Simulated checkout; no real card data is stored.</a:t>
            </a:r>
          </a:p>
        </p:txBody>
      </p:sp>
      <p:sp>
        <p:nvSpPr>
          <p:cNvPr id="39" name="card">
            <a:extLst>
              <a:ext uri="{FF2B5EF4-FFF2-40B4-BE49-F238E27FC236}">
                <a16:creationId xmlns:a16="http://schemas.microsoft.com/office/drawing/2014/main" id="{24FC7ADF-AA2E-4F24-8871-B31470B396A5}"/>
              </a:ext>
            </a:extLst>
          </p:cNvPr>
          <p:cNvSpPr>
            <a:spLocks noGrp="1"/>
          </p:cNvSpPr>
          <p:nvPr/>
        </p:nvSpPr>
        <p:spPr>
          <a:xfrm>
            <a:off x="4400550" y="41719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40" name="icon-circle">
            <a:extLst>
              <a:ext uri="{FF2B5EF4-FFF2-40B4-BE49-F238E27FC236}">
                <a16:creationId xmlns:a16="http://schemas.microsoft.com/office/drawing/2014/main" id="{D193E6C7-D1B9-4335-AFD6-97072077B4C4}"/>
              </a:ext>
            </a:extLst>
          </p:cNvPr>
          <p:cNvSpPr>
            <a:spLocks noGrp="1"/>
          </p:cNvSpPr>
          <p:nvPr/>
        </p:nvSpPr>
        <p:spPr>
          <a:xfrm>
            <a:off x="4610100" y="4400550"/>
            <a:ext cx="419100" cy="419100"/>
          </a:xfrm>
          <a:prstGeom prst="ellipse">
            <a:avLst/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editable-icon">
            <a:extLst>
              <a:ext uri="{FF2B5EF4-FFF2-40B4-BE49-F238E27FC236}">
                <a16:creationId xmlns:a16="http://schemas.microsoft.com/office/drawing/2014/main" id="{2A5ECEDA-D0E5-41FB-9BF8-D9095EC40181}"/>
              </a:ext>
            </a:extLst>
          </p:cNvPr>
          <p:cNvSpPr>
            <a:spLocks noGrp="1"/>
          </p:cNvSpPr>
          <p:nvPr/>
        </p:nvSpPr>
        <p:spPr>
          <a:xfrm>
            <a:off x="4610100" y="44196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#</a:t>
            </a:r>
          </a:p>
        </p:txBody>
      </p:sp>
      <p:sp>
        <p:nvSpPr>
          <p:cNvPr id="42" name="feature-title">
            <a:extLst>
              <a:ext uri="{FF2B5EF4-FFF2-40B4-BE49-F238E27FC236}">
                <a16:creationId xmlns:a16="http://schemas.microsoft.com/office/drawing/2014/main" id="{1FCD18E1-DC4C-4031-A4C5-1B99C4B99065}"/>
              </a:ext>
            </a:extLst>
          </p:cNvPr>
          <p:cNvSpPr>
            <a:spLocks noGrp="1"/>
          </p:cNvSpPr>
          <p:nvPr/>
        </p:nvSpPr>
        <p:spPr>
          <a:xfrm>
            <a:off x="5200650" y="44100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Confirmation</a:t>
            </a:r>
          </a:p>
        </p:txBody>
      </p:sp>
      <p:sp>
        <p:nvSpPr>
          <p:cNvPr id="43" name="feature-copy">
            <a:extLst>
              <a:ext uri="{FF2B5EF4-FFF2-40B4-BE49-F238E27FC236}">
                <a16:creationId xmlns:a16="http://schemas.microsoft.com/office/drawing/2014/main" id="{13850DAF-64E1-4622-880D-2EEF65CE9A4C}"/>
              </a:ext>
            </a:extLst>
          </p:cNvPr>
          <p:cNvSpPr>
            <a:spLocks noGrp="1"/>
          </p:cNvSpPr>
          <p:nvPr/>
        </p:nvSpPr>
        <p:spPr>
          <a:xfrm>
            <a:off x="5200650" y="47625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Get a booking reference and operator handoff.</a:t>
            </a:r>
          </a:p>
        </p:txBody>
      </p:sp>
      <p:sp>
        <p:nvSpPr>
          <p:cNvPr id="44" name="card">
            <a:extLst>
              <a:ext uri="{FF2B5EF4-FFF2-40B4-BE49-F238E27FC236}">
                <a16:creationId xmlns:a16="http://schemas.microsoft.com/office/drawing/2014/main" id="{F567621C-343A-4B91-BF93-4F2836039DF4}"/>
              </a:ext>
            </a:extLst>
          </p:cNvPr>
          <p:cNvSpPr>
            <a:spLocks noGrp="1"/>
          </p:cNvSpPr>
          <p:nvPr/>
        </p:nvSpPr>
        <p:spPr>
          <a:xfrm>
            <a:off x="8115300" y="4171950"/>
            <a:ext cx="339090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45" name="icon-circle">
            <a:extLst>
              <a:ext uri="{FF2B5EF4-FFF2-40B4-BE49-F238E27FC236}">
                <a16:creationId xmlns:a16="http://schemas.microsoft.com/office/drawing/2014/main" id="{DB64F1E8-7A01-41CB-996A-EBB31491AFC3}"/>
              </a:ext>
            </a:extLst>
          </p:cNvPr>
          <p:cNvSpPr>
            <a:spLocks noGrp="1"/>
          </p:cNvSpPr>
          <p:nvPr/>
        </p:nvSpPr>
        <p:spPr>
          <a:xfrm>
            <a:off x="8324850" y="440055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editable-icon">
            <a:extLst>
              <a:ext uri="{FF2B5EF4-FFF2-40B4-BE49-F238E27FC236}">
                <a16:creationId xmlns:a16="http://schemas.microsoft.com/office/drawing/2014/main" id="{12EEAE0D-435C-4EBD-ACCC-E259E8A7AA2C}"/>
              </a:ext>
            </a:extLst>
          </p:cNvPr>
          <p:cNvSpPr>
            <a:spLocks noGrp="1"/>
          </p:cNvSpPr>
          <p:nvPr/>
        </p:nvSpPr>
        <p:spPr>
          <a:xfrm>
            <a:off x="8324850" y="44196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▱</a:t>
            </a:r>
          </a:p>
        </p:txBody>
      </p:sp>
      <p:sp>
        <p:nvSpPr>
          <p:cNvPr id="47" name="feature-title">
            <a:extLst>
              <a:ext uri="{FF2B5EF4-FFF2-40B4-BE49-F238E27FC236}">
                <a16:creationId xmlns:a16="http://schemas.microsoft.com/office/drawing/2014/main" id="{5E9F0C57-C98E-4DF9-9F77-A378C3759F24}"/>
              </a:ext>
            </a:extLst>
          </p:cNvPr>
          <p:cNvSpPr>
            <a:spLocks noGrp="1"/>
          </p:cNvSpPr>
          <p:nvPr/>
        </p:nvSpPr>
        <p:spPr>
          <a:xfrm>
            <a:off x="8915400" y="4410075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6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Responsive Design</a:t>
            </a:r>
          </a:p>
        </p:txBody>
      </p:sp>
      <p:sp>
        <p:nvSpPr>
          <p:cNvPr id="48" name="feature-copy">
            <a:extLst>
              <a:ext uri="{FF2B5EF4-FFF2-40B4-BE49-F238E27FC236}">
                <a16:creationId xmlns:a16="http://schemas.microsoft.com/office/drawing/2014/main" id="{77F54AFF-BD21-435C-BB68-06B3FF29CA7C}"/>
              </a:ext>
            </a:extLst>
          </p:cNvPr>
          <p:cNvSpPr>
            <a:spLocks noGrp="1"/>
          </p:cNvSpPr>
          <p:nvPr/>
        </p:nvSpPr>
        <p:spPr>
          <a:xfrm>
            <a:off x="8915400" y="47625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Adapts across desktop, tablet and mobile layouts.</a:t>
            </a:r>
          </a:p>
        </p:txBody>
      </p:sp>
    </p:spTree>
    <p:extLst>
      <p:ext uri="{BB962C8B-B14F-4D97-AF65-F5344CB8AC3E}">
        <p14:creationId xmlns:p14="http://schemas.microsoft.com/office/powerpoint/2010/main" val="1520230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-5-index">
            <a:extLst>
              <a:ext uri="{FF2B5EF4-FFF2-40B4-BE49-F238E27FC236}">
                <a16:creationId xmlns:a16="http://schemas.microsoft.com/office/drawing/2014/main" id="{B973F23F-8866-4909-8947-0BFC03CB635E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76A3A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D76A3A"/>
                </a:solidFill>
                <a:latin typeface="DM Sans"/>
                <a:ea typeface="DM Sans"/>
                <a:cs typeface="DM Sans"/>
              </a:rPr>
              <a:t>05</a:t>
            </a:r>
          </a:p>
        </p:txBody>
      </p:sp>
      <p:sp>
        <p:nvSpPr>
          <p:cNvPr id="2" name="slide-5-title">
            <a:extLst>
              <a:ext uri="{FF2B5EF4-FFF2-40B4-BE49-F238E27FC236}">
                <a16:creationId xmlns:a16="http://schemas.microsoft.com/office/drawing/2014/main" id="{C027CB7B-54F6-4459-A6F1-339A0F5D7374}"/>
              </a:ext>
            </a:extLst>
          </p:cNvPr>
          <p:cNvSpPr>
            <a:spLocks noGrp="1"/>
          </p:cNvSpPr>
          <p:nvPr/>
        </p:nvSpPr>
        <p:spPr>
          <a:xfrm>
            <a:off x="1200150" y="342900"/>
            <a:ext cx="809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315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Technology Stack</a:t>
            </a:r>
          </a:p>
        </p:txBody>
      </p:sp>
      <p:sp>
        <p:nvSpPr>
          <p:cNvPr id="3" name="slide-5-brand">
            <a:extLst>
              <a:ext uri="{FF2B5EF4-FFF2-40B4-BE49-F238E27FC236}">
                <a16:creationId xmlns:a16="http://schemas.microsoft.com/office/drawing/2014/main" id="{5A74B8EF-9F90-4A9E-B2CD-4114C08AC6A8}"/>
              </a:ext>
            </a:extLst>
          </p:cNvPr>
          <p:cNvSpPr>
            <a:spLocks noGrp="1"/>
          </p:cNvSpPr>
          <p:nvPr/>
        </p:nvSpPr>
        <p:spPr>
          <a:xfrm>
            <a:off x="10001250" y="495300"/>
            <a:ext cx="150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MahaGetaways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9F88FC9E-12C0-4485-AA29-D014967DFA1C}"/>
              </a:ext>
            </a:extLst>
          </p:cNvPr>
          <p:cNvSpPr>
            <a:spLocks noGrp="1"/>
          </p:cNvSpPr>
          <p:nvPr/>
        </p:nvSpPr>
        <p:spPr>
          <a:xfrm>
            <a:off x="685800" y="1314450"/>
            <a:ext cx="5095875" cy="184785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5" name="icon-circle">
            <a:extLst>
              <a:ext uri="{FF2B5EF4-FFF2-40B4-BE49-F238E27FC236}">
                <a16:creationId xmlns:a16="http://schemas.microsoft.com/office/drawing/2014/main" id="{C6682306-FA85-4E1C-8484-7C4F7E2B2C7B}"/>
              </a:ext>
            </a:extLst>
          </p:cNvPr>
          <p:cNvSpPr>
            <a:spLocks noGrp="1"/>
          </p:cNvSpPr>
          <p:nvPr/>
        </p:nvSpPr>
        <p:spPr>
          <a:xfrm>
            <a:off x="952500" y="163830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editable-icon">
            <a:extLst>
              <a:ext uri="{FF2B5EF4-FFF2-40B4-BE49-F238E27FC236}">
                <a16:creationId xmlns:a16="http://schemas.microsoft.com/office/drawing/2014/main" id="{C40C2D77-B465-409D-8CB7-09DF06425792}"/>
              </a:ext>
            </a:extLst>
          </p:cNvPr>
          <p:cNvSpPr>
            <a:spLocks noGrp="1"/>
          </p:cNvSpPr>
          <p:nvPr/>
        </p:nvSpPr>
        <p:spPr>
          <a:xfrm>
            <a:off x="952500" y="16573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⌘</a:t>
            </a:r>
          </a:p>
        </p:txBody>
      </p:sp>
      <p:sp>
        <p:nvSpPr>
          <p:cNvPr id="7" name="stack-title">
            <a:extLst>
              <a:ext uri="{FF2B5EF4-FFF2-40B4-BE49-F238E27FC236}">
                <a16:creationId xmlns:a16="http://schemas.microsoft.com/office/drawing/2014/main" id="{FF0139CE-2BE8-4479-A17A-2E61DC588594}"/>
              </a:ext>
            </a:extLst>
          </p:cNvPr>
          <p:cNvSpPr>
            <a:spLocks noGrp="1"/>
          </p:cNvSpPr>
          <p:nvPr/>
        </p:nvSpPr>
        <p:spPr>
          <a:xfrm>
            <a:off x="1562100" y="16002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Frontend</a:t>
            </a:r>
          </a:p>
        </p:txBody>
      </p:sp>
      <p:sp>
        <p:nvSpPr>
          <p:cNvPr id="8" name="stack-items">
            <a:extLst>
              <a:ext uri="{FF2B5EF4-FFF2-40B4-BE49-F238E27FC236}">
                <a16:creationId xmlns:a16="http://schemas.microsoft.com/office/drawing/2014/main" id="{ACADF2C5-4956-471C-9DA0-9D14FDBCE517}"/>
              </a:ext>
            </a:extLst>
          </p:cNvPr>
          <p:cNvSpPr>
            <a:spLocks noGrp="1"/>
          </p:cNvSpPr>
          <p:nvPr/>
        </p:nvSpPr>
        <p:spPr>
          <a:xfrm>
            <a:off x="1581150" y="2095500"/>
            <a:ext cx="38195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Next.js 16</a:t>
            </a:r>
          </a:p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React</a:t>
            </a:r>
          </a:p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HTML, CSS, JavaScript</a:t>
            </a:r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5C7DC8E8-6EDF-4F88-9C69-6001432F2325}"/>
              </a:ext>
            </a:extLst>
          </p:cNvPr>
          <p:cNvSpPr>
            <a:spLocks noGrp="1"/>
          </p:cNvSpPr>
          <p:nvPr/>
        </p:nvSpPr>
        <p:spPr>
          <a:xfrm>
            <a:off x="6400800" y="1314450"/>
            <a:ext cx="5095875" cy="1847850"/>
          </a:xfrm>
          <a:prstGeom prst="roundRect">
            <a:avLst>
              <a:gd name="adj" fmla="val 8247"/>
            </a:avLst>
          </a:prstGeom>
          <a:solidFill>
            <a:srgbClr val="173D2B"/>
          </a:solidFill>
          <a:ln w="11430">
            <a:solidFill>
              <a:srgbClr val="173D2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0" name="icon-circle">
            <a:extLst>
              <a:ext uri="{FF2B5EF4-FFF2-40B4-BE49-F238E27FC236}">
                <a16:creationId xmlns:a16="http://schemas.microsoft.com/office/drawing/2014/main" id="{DA152605-94E5-4315-A8AC-C56AD4DE5A1E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419100" cy="419100"/>
          </a:xfrm>
          <a:prstGeom prst="ellipse">
            <a:avLst/>
          </a:prstGeom>
          <a:solidFill>
            <a:srgbClr val="F4F0E6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editable-icon">
            <a:extLst>
              <a:ext uri="{FF2B5EF4-FFF2-40B4-BE49-F238E27FC236}">
                <a16:creationId xmlns:a16="http://schemas.microsoft.com/office/drawing/2014/main" id="{0F3BAF30-7058-4F3A-8517-FA2315F110B0}"/>
              </a:ext>
            </a:extLst>
          </p:cNvPr>
          <p:cNvSpPr>
            <a:spLocks noGrp="1"/>
          </p:cNvSpPr>
          <p:nvPr/>
        </p:nvSpPr>
        <p:spPr>
          <a:xfrm>
            <a:off x="6667500" y="16573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{}</a:t>
            </a:r>
          </a:p>
        </p:txBody>
      </p:sp>
      <p:sp>
        <p:nvSpPr>
          <p:cNvPr id="12" name="stack-title">
            <a:extLst>
              <a:ext uri="{FF2B5EF4-FFF2-40B4-BE49-F238E27FC236}">
                <a16:creationId xmlns:a16="http://schemas.microsoft.com/office/drawing/2014/main" id="{A4559D26-5054-4BEB-9E30-DB0CF8220ED2}"/>
              </a:ext>
            </a:extLst>
          </p:cNvPr>
          <p:cNvSpPr>
            <a:spLocks noGrp="1"/>
          </p:cNvSpPr>
          <p:nvPr/>
        </p:nvSpPr>
        <p:spPr>
          <a:xfrm>
            <a:off x="7277100" y="16002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rPr>
              <a:t>Backend</a:t>
            </a:r>
          </a:p>
        </p:txBody>
      </p:sp>
      <p:sp>
        <p:nvSpPr>
          <p:cNvPr id="13" name="stack-items">
            <a:extLst>
              <a:ext uri="{FF2B5EF4-FFF2-40B4-BE49-F238E27FC236}">
                <a16:creationId xmlns:a16="http://schemas.microsoft.com/office/drawing/2014/main" id="{0E7A2E40-57EE-4001-A345-5681C4B3D558}"/>
              </a:ext>
            </a:extLst>
          </p:cNvPr>
          <p:cNvSpPr>
            <a:spLocks noGrp="1"/>
          </p:cNvSpPr>
          <p:nvPr/>
        </p:nvSpPr>
        <p:spPr>
          <a:xfrm>
            <a:off x="7296150" y="2095500"/>
            <a:ext cx="38195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• Next.js API Routes</a:t>
            </a:r>
          </a:p>
          <a:p>
            <a:pPr algn="l">
              <a:defRPr sz="13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• Server-side validation</a:t>
            </a:r>
          </a:p>
          <a:p>
            <a:pPr algn="l">
              <a:defRPr sz="13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• Booking reference generation</a:t>
            </a:r>
          </a:p>
          <a:p>
            <a:pPr algn="l">
              <a:defRPr sz="135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• Pricing calculation</a:t>
            </a:r>
          </a:p>
        </p:txBody>
      </p:sp>
      <p:sp>
        <p:nvSpPr>
          <p:cNvPr id="14" name="card">
            <a:extLst>
              <a:ext uri="{FF2B5EF4-FFF2-40B4-BE49-F238E27FC236}">
                <a16:creationId xmlns:a16="http://schemas.microsoft.com/office/drawing/2014/main" id="{AFA91870-80A9-4D61-9768-BAD96B5FFA30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5095875" cy="184785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5" name="icon-circle">
            <a:extLst>
              <a:ext uri="{FF2B5EF4-FFF2-40B4-BE49-F238E27FC236}">
                <a16:creationId xmlns:a16="http://schemas.microsoft.com/office/drawing/2014/main" id="{051DAD08-9882-42CA-9C58-049F5E3A13D3}"/>
              </a:ext>
            </a:extLst>
          </p:cNvPr>
          <p:cNvSpPr>
            <a:spLocks noGrp="1"/>
          </p:cNvSpPr>
          <p:nvPr/>
        </p:nvSpPr>
        <p:spPr>
          <a:xfrm>
            <a:off x="952500" y="400050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editable-icon">
            <a:extLst>
              <a:ext uri="{FF2B5EF4-FFF2-40B4-BE49-F238E27FC236}">
                <a16:creationId xmlns:a16="http://schemas.microsoft.com/office/drawing/2014/main" id="{D2E7E957-1294-4AA2-A79B-F26CF43F1E24}"/>
              </a:ext>
            </a:extLst>
          </p:cNvPr>
          <p:cNvSpPr>
            <a:spLocks noGrp="1"/>
          </p:cNvSpPr>
          <p:nvPr/>
        </p:nvSpPr>
        <p:spPr>
          <a:xfrm>
            <a:off x="952500" y="40195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↗</a:t>
            </a:r>
          </a:p>
        </p:txBody>
      </p:sp>
      <p:sp>
        <p:nvSpPr>
          <p:cNvPr id="17" name="stack-title">
            <a:extLst>
              <a:ext uri="{FF2B5EF4-FFF2-40B4-BE49-F238E27FC236}">
                <a16:creationId xmlns:a16="http://schemas.microsoft.com/office/drawing/2014/main" id="{E76683DF-4AAC-49CD-98F5-5115133883A4}"/>
              </a:ext>
            </a:extLst>
          </p:cNvPr>
          <p:cNvSpPr>
            <a:spLocks noGrp="1"/>
          </p:cNvSpPr>
          <p:nvPr/>
        </p:nvSpPr>
        <p:spPr>
          <a:xfrm>
            <a:off x="1562100" y="39624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Deployment</a:t>
            </a:r>
          </a:p>
        </p:txBody>
      </p:sp>
      <p:sp>
        <p:nvSpPr>
          <p:cNvPr id="18" name="stack-items">
            <a:extLst>
              <a:ext uri="{FF2B5EF4-FFF2-40B4-BE49-F238E27FC236}">
                <a16:creationId xmlns:a16="http://schemas.microsoft.com/office/drawing/2014/main" id="{33F540C3-EEB2-4C50-A97D-5D2FBED782C1}"/>
              </a:ext>
            </a:extLst>
          </p:cNvPr>
          <p:cNvSpPr>
            <a:spLocks noGrp="1"/>
          </p:cNvSpPr>
          <p:nvPr/>
        </p:nvSpPr>
        <p:spPr>
          <a:xfrm>
            <a:off x="1581150" y="4457700"/>
            <a:ext cx="38195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Vercel</a:t>
            </a:r>
          </a:p>
        </p:txBody>
      </p:sp>
      <p:sp>
        <p:nvSpPr>
          <p:cNvPr id="19" name="card">
            <a:extLst>
              <a:ext uri="{FF2B5EF4-FFF2-40B4-BE49-F238E27FC236}">
                <a16:creationId xmlns:a16="http://schemas.microsoft.com/office/drawing/2014/main" id="{4D1C5D6F-9CEF-407F-B763-E03A2F534F07}"/>
              </a:ext>
            </a:extLst>
          </p:cNvPr>
          <p:cNvSpPr>
            <a:spLocks noGrp="1"/>
          </p:cNvSpPr>
          <p:nvPr/>
        </p:nvSpPr>
        <p:spPr>
          <a:xfrm>
            <a:off x="6400800" y="3676650"/>
            <a:ext cx="5095875" cy="1847850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1430">
            <a:solidFill>
              <a:srgbClr val="D9DDD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20" name="icon-circle">
            <a:extLst>
              <a:ext uri="{FF2B5EF4-FFF2-40B4-BE49-F238E27FC236}">
                <a16:creationId xmlns:a16="http://schemas.microsoft.com/office/drawing/2014/main" id="{E67EB620-C739-43B9-B80E-45E42A4DE706}"/>
              </a:ext>
            </a:extLst>
          </p:cNvPr>
          <p:cNvSpPr>
            <a:spLocks noGrp="1"/>
          </p:cNvSpPr>
          <p:nvPr/>
        </p:nvSpPr>
        <p:spPr>
          <a:xfrm>
            <a:off x="6667500" y="4000500"/>
            <a:ext cx="419100" cy="419100"/>
          </a:xfrm>
          <a:prstGeom prst="ellipse">
            <a:avLst/>
          </a:prstGeom>
          <a:solidFill>
            <a:srgbClr val="E8EDDF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editable-icon">
            <a:extLst>
              <a:ext uri="{FF2B5EF4-FFF2-40B4-BE49-F238E27FC236}">
                <a16:creationId xmlns:a16="http://schemas.microsoft.com/office/drawing/2014/main" id="{0ECD5A73-C007-44C1-810C-C2805710506E}"/>
              </a:ext>
            </a:extLst>
          </p:cNvPr>
          <p:cNvSpPr>
            <a:spLocks noGrp="1"/>
          </p:cNvSpPr>
          <p:nvPr/>
        </p:nvSpPr>
        <p:spPr>
          <a:xfrm>
            <a:off x="6667500" y="401955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73D2B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173D2B"/>
                </a:solidFill>
                <a:latin typeface="DM Sans"/>
                <a:ea typeface="DM Sans"/>
                <a:cs typeface="DM Sans"/>
              </a:rPr>
              <a:t>◇</a:t>
            </a:r>
          </a:p>
        </p:txBody>
      </p:sp>
      <p:sp>
        <p:nvSpPr>
          <p:cNvPr id="22" name="stack-title">
            <a:extLst>
              <a:ext uri="{FF2B5EF4-FFF2-40B4-BE49-F238E27FC236}">
                <a16:creationId xmlns:a16="http://schemas.microsoft.com/office/drawing/2014/main" id="{C3B3F7FC-686D-4B29-A86D-3794B850F236}"/>
              </a:ext>
            </a:extLst>
          </p:cNvPr>
          <p:cNvSpPr>
            <a:spLocks noGrp="1"/>
          </p:cNvSpPr>
          <p:nvPr/>
        </p:nvSpPr>
        <p:spPr>
          <a:xfrm>
            <a:off x="7277100" y="39624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Development</a:t>
            </a:r>
          </a:p>
        </p:txBody>
      </p:sp>
      <p:sp>
        <p:nvSpPr>
          <p:cNvPr id="23" name="stack-items">
            <a:extLst>
              <a:ext uri="{FF2B5EF4-FFF2-40B4-BE49-F238E27FC236}">
                <a16:creationId xmlns:a16="http://schemas.microsoft.com/office/drawing/2014/main" id="{FBC4F55B-B82B-443D-AAED-42FFABAB9EAD}"/>
              </a:ext>
            </a:extLst>
          </p:cNvPr>
          <p:cNvSpPr>
            <a:spLocks noGrp="1"/>
          </p:cNvSpPr>
          <p:nvPr/>
        </p:nvSpPr>
        <p:spPr>
          <a:xfrm>
            <a:off x="7296150" y="4457700"/>
            <a:ext cx="38195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Git</a:t>
            </a:r>
          </a:p>
          <a:p>
            <a:pPr algn="l">
              <a:defRPr sz="1350" b="0">
                <a:solidFill>
                  <a:srgbClr val="667069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667069"/>
                </a:solidFill>
                <a:latin typeface="DM Sans"/>
                <a:ea typeface="DM Sans"/>
                <a:cs typeface="DM Sans"/>
              </a:rPr>
              <a:t>• GitHub</a:t>
            </a:r>
          </a:p>
        </p:txBody>
      </p:sp>
    </p:spTree>
    <p:extLst>
      <p:ext uri="{BB962C8B-B14F-4D97-AF65-F5344CB8AC3E}">
        <p14:creationId xmlns:p14="http://schemas.microsoft.com/office/powerpoint/2010/main" val="277968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6-index">
            <a:extLst>
              <a:ext uri="{FF2B5EF4-FFF2-40B4-BE49-F238E27FC236}">
                <a16:creationId xmlns:a16="http://schemas.microsoft.com/office/drawing/2014/main" id="{623E699F-6B5A-4CB2-9C3C-AE75CC0DDA7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06</a:t>
            </a:r>
          </a:p>
        </p:txBody>
      </p:sp>
      <p:sp>
        <p:nvSpPr>
          <p:cNvPr id="2" name="slide-6-title">
            <a:extLst>
              <a:ext uri="{FF2B5EF4-FFF2-40B4-BE49-F238E27FC236}">
                <a16:creationId xmlns:a16="http://schemas.microsoft.com/office/drawing/2014/main" id="{904489B5-4CE5-41C6-AD51-1365DC420185}"/>
              </a:ext>
            </a:extLst>
          </p:cNvPr>
          <p:cNvSpPr>
            <a:spLocks noGrp="1"/>
          </p:cNvSpPr>
          <p:nvPr/>
        </p:nvSpPr>
        <p:spPr>
          <a:xfrm>
            <a:off x="1200150" y="342900"/>
            <a:ext cx="809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315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rPr>
              <a:t>Future Roadmap</a:t>
            </a:r>
          </a:p>
        </p:txBody>
      </p:sp>
      <p:sp>
        <p:nvSpPr>
          <p:cNvPr id="3" name="slide-6-brand">
            <a:extLst>
              <a:ext uri="{FF2B5EF4-FFF2-40B4-BE49-F238E27FC236}">
                <a16:creationId xmlns:a16="http://schemas.microsoft.com/office/drawing/2014/main" id="{3A9D57B3-6607-4B43-A22D-E76CEC6BEE1C}"/>
              </a:ext>
            </a:extLst>
          </p:cNvPr>
          <p:cNvSpPr>
            <a:spLocks noGrp="1"/>
          </p:cNvSpPr>
          <p:nvPr/>
        </p:nvSpPr>
        <p:spPr>
          <a:xfrm>
            <a:off x="10001250" y="495300"/>
            <a:ext cx="150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F4F0E6"/>
                </a:solidFill>
                <a:latin typeface="DM Sans"/>
                <a:ea typeface="DM Sans"/>
                <a:cs typeface="DM Sans"/>
              </a:defRPr>
            </a:pPr>
            <a:r>
              <a:rPr sz="1200" b="0">
                <a:solidFill>
                  <a:srgbClr val="F4F0E6"/>
                </a:solidFill>
                <a:latin typeface="DM Sans"/>
                <a:ea typeface="DM Sans"/>
                <a:cs typeface="DM Sans"/>
              </a:rPr>
              <a:t>MahaGetaways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FE6B2C44-646B-445F-8699-011278538C32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3371850" cy="2781300"/>
          </a:xfrm>
          <a:prstGeom prst="roundRect">
            <a:avLst>
              <a:gd name="adj" fmla="val 5479"/>
            </a:avLst>
          </a:prstGeom>
          <a:solidFill>
            <a:srgbClr val="FBFAF5"/>
          </a:solidFill>
          <a:ln w="11430">
            <a:solidFill>
              <a:srgbClr val="F4F0E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5" name="roadmap-title">
            <a:extLst>
              <a:ext uri="{FF2B5EF4-FFF2-40B4-BE49-F238E27FC236}">
                <a16:creationId xmlns:a16="http://schemas.microsoft.com/office/drawing/2014/main" id="{5D9B610D-2D8C-4F0A-AC15-D183330E88DA}"/>
              </a:ext>
            </a:extLst>
          </p:cNvPr>
          <p:cNvSpPr>
            <a:spLocks noGrp="1"/>
          </p:cNvSpPr>
          <p:nvPr/>
        </p:nvSpPr>
        <p:spPr>
          <a:xfrm>
            <a:off x="933450" y="17526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Platform</a:t>
            </a:r>
          </a:p>
        </p:txBody>
      </p:sp>
      <p:sp>
        <p:nvSpPr>
          <p:cNvPr id="6" name="roadmap-items">
            <a:extLst>
              <a:ext uri="{FF2B5EF4-FFF2-40B4-BE49-F238E27FC236}">
                <a16:creationId xmlns:a16="http://schemas.microsoft.com/office/drawing/2014/main" id="{81E41964-DFA9-4669-A684-2B1EC23864A7}"/>
              </a:ext>
            </a:extLst>
          </p:cNvPr>
          <p:cNvSpPr>
            <a:spLocks noGrp="1"/>
          </p:cNvSpPr>
          <p:nvPr/>
        </p:nvSpPr>
        <p:spPr>
          <a:xfrm>
            <a:off x="971550" y="2362200"/>
            <a:ext cx="28003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Authentication</a:t>
            </a:r>
          </a:p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Operator Dashboard</a:t>
            </a:r>
          </a:p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Verified Reviews</a:t>
            </a:r>
          </a:p>
        </p:txBody>
      </p:sp>
      <p:sp>
        <p:nvSpPr>
          <p:cNvPr id="7" name="roadmap-dot">
            <a:extLst>
              <a:ext uri="{FF2B5EF4-FFF2-40B4-BE49-F238E27FC236}">
                <a16:creationId xmlns:a16="http://schemas.microsoft.com/office/drawing/2014/main" id="{D72C16FA-B3A4-4DC3-88D0-3D4F8BC3C5AD}"/>
              </a:ext>
            </a:extLst>
          </p:cNvPr>
          <p:cNvSpPr>
            <a:spLocks noGrp="1"/>
          </p:cNvSpPr>
          <p:nvPr/>
        </p:nvSpPr>
        <p:spPr>
          <a:xfrm>
            <a:off x="3600450" y="1809750"/>
            <a:ext cx="152400" cy="152400"/>
          </a:xfrm>
          <a:prstGeom prst="ellipse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E1EAAFBF-536D-4468-92C5-9C24C110FF39}"/>
              </a:ext>
            </a:extLst>
          </p:cNvPr>
          <p:cNvSpPr>
            <a:spLocks noGrp="1"/>
          </p:cNvSpPr>
          <p:nvPr/>
        </p:nvSpPr>
        <p:spPr>
          <a:xfrm>
            <a:off x="4419600" y="1428750"/>
            <a:ext cx="3371850" cy="2781300"/>
          </a:xfrm>
          <a:prstGeom prst="roundRect">
            <a:avLst>
              <a:gd name="adj" fmla="val 5479"/>
            </a:avLst>
          </a:prstGeom>
          <a:solidFill>
            <a:srgbClr val="FBFAF5"/>
          </a:solidFill>
          <a:ln w="11430">
            <a:solidFill>
              <a:srgbClr val="F4F0E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9" name="roadmap-title">
            <a:extLst>
              <a:ext uri="{FF2B5EF4-FFF2-40B4-BE49-F238E27FC236}">
                <a16:creationId xmlns:a16="http://schemas.microsoft.com/office/drawing/2014/main" id="{155CCF62-EF0A-441A-BAA2-45A4737774A5}"/>
              </a:ext>
            </a:extLst>
          </p:cNvPr>
          <p:cNvSpPr>
            <a:spLocks noGrp="1"/>
          </p:cNvSpPr>
          <p:nvPr/>
        </p:nvSpPr>
        <p:spPr>
          <a:xfrm>
            <a:off x="4667250" y="17526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Booking</a:t>
            </a:r>
          </a:p>
        </p:txBody>
      </p:sp>
      <p:sp>
        <p:nvSpPr>
          <p:cNvPr id="10" name="roadmap-items">
            <a:extLst>
              <a:ext uri="{FF2B5EF4-FFF2-40B4-BE49-F238E27FC236}">
                <a16:creationId xmlns:a16="http://schemas.microsoft.com/office/drawing/2014/main" id="{72007C6E-E1CA-4629-95B4-F0CD44822F34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8003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Stripe Integration</a:t>
            </a:r>
          </a:p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Database Storage</a:t>
            </a:r>
          </a:p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Live Availability</a:t>
            </a:r>
          </a:p>
        </p:txBody>
      </p:sp>
      <p:sp>
        <p:nvSpPr>
          <p:cNvPr id="11" name="roadmap-dot">
            <a:extLst>
              <a:ext uri="{FF2B5EF4-FFF2-40B4-BE49-F238E27FC236}">
                <a16:creationId xmlns:a16="http://schemas.microsoft.com/office/drawing/2014/main" id="{AF242483-4803-47FC-8031-252F8977D6C5}"/>
              </a:ext>
            </a:extLst>
          </p:cNvPr>
          <p:cNvSpPr>
            <a:spLocks noGrp="1"/>
          </p:cNvSpPr>
          <p:nvPr/>
        </p:nvSpPr>
        <p:spPr>
          <a:xfrm>
            <a:off x="7334250" y="1809750"/>
            <a:ext cx="152400" cy="152400"/>
          </a:xfrm>
          <a:prstGeom prst="ellipse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card">
            <a:extLst>
              <a:ext uri="{FF2B5EF4-FFF2-40B4-BE49-F238E27FC236}">
                <a16:creationId xmlns:a16="http://schemas.microsoft.com/office/drawing/2014/main" id="{9FC6C2F2-90E4-4CA3-9CE1-305F7FD14F23}"/>
              </a:ext>
            </a:extLst>
          </p:cNvPr>
          <p:cNvSpPr>
            <a:spLocks noGrp="1"/>
          </p:cNvSpPr>
          <p:nvPr/>
        </p:nvSpPr>
        <p:spPr>
          <a:xfrm>
            <a:off x="8153400" y="1428750"/>
            <a:ext cx="3371850" cy="2781300"/>
          </a:xfrm>
          <a:prstGeom prst="roundRect">
            <a:avLst>
              <a:gd name="adj" fmla="val 5479"/>
            </a:avLst>
          </a:prstGeom>
          <a:solidFill>
            <a:srgbClr val="FBFAF5"/>
          </a:solidFill>
          <a:ln w="11430">
            <a:solidFill>
              <a:srgbClr val="F4F0E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A"/>
          </a:p>
        </p:txBody>
      </p:sp>
      <p:sp>
        <p:nvSpPr>
          <p:cNvPr id="13" name="roadmap-title">
            <a:extLst>
              <a:ext uri="{FF2B5EF4-FFF2-40B4-BE49-F238E27FC236}">
                <a16:creationId xmlns:a16="http://schemas.microsoft.com/office/drawing/2014/main" id="{A7D1BA8E-25F1-46B9-852A-C9A1C982E48B}"/>
              </a:ext>
            </a:extLst>
          </p:cNvPr>
          <p:cNvSpPr>
            <a:spLocks noGrp="1"/>
          </p:cNvSpPr>
          <p:nvPr/>
        </p:nvSpPr>
        <p:spPr>
          <a:xfrm>
            <a:off x="8401050" y="17526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2100" b="0">
                <a:solidFill>
                  <a:srgbClr val="173D2B"/>
                </a:solidFill>
                <a:latin typeface="DM Serif Display"/>
                <a:ea typeface="DM Serif Display"/>
                <a:cs typeface="DM Serif Display"/>
              </a:rPr>
              <a:t>Experience</a:t>
            </a:r>
          </a:p>
        </p:txBody>
      </p:sp>
      <p:sp>
        <p:nvSpPr>
          <p:cNvPr id="14" name="roadmap-items">
            <a:extLst>
              <a:ext uri="{FF2B5EF4-FFF2-40B4-BE49-F238E27FC236}">
                <a16:creationId xmlns:a16="http://schemas.microsoft.com/office/drawing/2014/main" id="{E59A99F1-263B-4A35-BC84-58989B56CCFD}"/>
              </a:ext>
            </a:extLst>
          </p:cNvPr>
          <p:cNvSpPr>
            <a:spLocks noGrp="1"/>
          </p:cNvSpPr>
          <p:nvPr/>
        </p:nvSpPr>
        <p:spPr>
          <a:xfrm>
            <a:off x="8439150" y="2362200"/>
            <a:ext cx="28003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Email / SMS / WhatsApp confirmations</a:t>
            </a:r>
          </a:p>
          <a:p>
            <a:pPr algn="l">
              <a:defRPr sz="1425" b="0">
                <a:solidFill>
                  <a:srgbClr val="17231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17231D"/>
                </a:solidFill>
                <a:latin typeface="DM Sans"/>
                <a:ea typeface="DM Sans"/>
                <a:cs typeface="DM Sans"/>
              </a:rPr>
              <a:t>• Cancellation &amp; Refund workflows</a:t>
            </a:r>
          </a:p>
        </p:txBody>
      </p:sp>
      <p:sp>
        <p:nvSpPr>
          <p:cNvPr id="15" name="roadmap-dot">
            <a:extLst>
              <a:ext uri="{FF2B5EF4-FFF2-40B4-BE49-F238E27FC236}">
                <a16:creationId xmlns:a16="http://schemas.microsoft.com/office/drawing/2014/main" id="{7932F429-A027-450D-BCAE-800C813049CC}"/>
              </a:ext>
            </a:extLst>
          </p:cNvPr>
          <p:cNvSpPr>
            <a:spLocks noGrp="1"/>
          </p:cNvSpPr>
          <p:nvPr/>
        </p:nvSpPr>
        <p:spPr>
          <a:xfrm>
            <a:off x="11068050" y="1809750"/>
            <a:ext cx="152400" cy="152400"/>
          </a:xfrm>
          <a:prstGeom prst="ellipse">
            <a:avLst/>
          </a:prstGeom>
          <a:solidFill>
            <a:srgbClr val="D76A3A"/>
          </a:solidFill>
          <a:ln w="0">
            <a:noFill/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vision-band">
            <a:extLst>
              <a:ext uri="{FF2B5EF4-FFF2-40B4-BE49-F238E27FC236}">
                <a16:creationId xmlns:a16="http://schemas.microsoft.com/office/drawing/2014/main" id="{CCA99D83-1CA4-4748-826E-658A71FDAFA7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10820400" cy="1104900"/>
          </a:xfrm>
          <a:prstGeom prst="roundRect">
            <a:avLst>
              <a:gd name="adj" fmla="val 13793"/>
            </a:avLst>
          </a:prstGeom>
          <a:solidFill>
            <a:srgbClr val="173D2B"/>
          </a:solidFill>
          <a:ln w="0">
            <a:solidFill>
              <a:srgbClr val="173D2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vision-quote">
            <a:extLst>
              <a:ext uri="{FF2B5EF4-FFF2-40B4-BE49-F238E27FC236}">
                <a16:creationId xmlns:a16="http://schemas.microsoft.com/office/drawing/2014/main" id="{556DD7F6-5A54-41F1-A1E8-BDBA76DEFA90}"/>
              </a:ext>
            </a:extLst>
          </p:cNvPr>
          <p:cNvSpPr>
            <a:spLocks noGrp="1"/>
          </p:cNvSpPr>
          <p:nvPr/>
        </p:nvSpPr>
        <p:spPr>
          <a:xfrm>
            <a:off x="1123950" y="5029200"/>
            <a:ext cx="9944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defRPr>
            </a:pPr>
            <a:r>
              <a:rPr sz="1800" b="0">
                <a:solidFill>
                  <a:srgbClr val="FBFAF5"/>
                </a:solidFill>
                <a:latin typeface="DM Serif Display"/>
                <a:ea typeface="DM Serif Display"/>
                <a:cs typeface="DM Serif Display"/>
              </a:rPr>
              <a:t>“Our goal is to make outdoor adventures across Maharashtra easier to discover while helping local operators reach more travellers through one trusted marketplace.”</a:t>
            </a:r>
          </a:p>
        </p:txBody>
      </p:sp>
    </p:spTree>
    <p:extLst>
      <p:ext uri="{BB962C8B-B14F-4D97-AF65-F5344CB8AC3E}">
        <p14:creationId xmlns:p14="http://schemas.microsoft.com/office/powerpoint/2010/main" val="211959485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379</Words>
  <Application>Microsoft Office PowerPoint</Application>
  <DocSecurity>0</DocSecurity>
  <PresentationFormat>Widescreen</PresentationFormat>
  <Paragraphs>104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DM Sans</vt:lpstr>
      <vt:lpstr>DM Serif Display</vt:lpstr>
      <vt:lpstr>Times New Roman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Lucy Chen Chen</cp:lastModifiedBy>
  <cp:revision>1</cp:revision>
  <dcterms:created xsi:type="dcterms:W3CDTF">2026-06-26T01:13:48Z</dcterms:created>
  <dcterms:modified xsi:type="dcterms:W3CDTF">2026-06-27T03:51:24Z</dcterms:modified>
</cp:coreProperties>
</file>