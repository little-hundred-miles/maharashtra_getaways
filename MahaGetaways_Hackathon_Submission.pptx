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9649fdc6224126" /><Relationship Type="http://schemas.openxmlformats.org/officeDocument/2006/relationships/extended-properties" Target="/docProps/app.xml" Id="R5202a9c037244b0a" /><Relationship Type="http://schemas.openxmlformats.org/officeDocument/2006/relationships/officeDocument" Target="/ppt/presentation.xml" Id="R26941cb527b94a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e756b10eef46f4"/>
  </p:sldMasterIdLst>
  <p:notesMasterIdLst>
    <p:notesMasterId xmlns:r="http://schemas.openxmlformats.org/officeDocument/2006/relationships" r:id="R8d5b3656a7ae4bdc"/>
  </p:notesMasterIdLst>
  <p:sldIdLst>
    <p:sldId xmlns:r="http://schemas.openxmlformats.org/officeDocument/2006/relationships" id="256" r:id="R5b2bb3087c4e4e9c"/>
    <p:sldId xmlns:r="http://schemas.openxmlformats.org/officeDocument/2006/relationships" id="257" r:id="R183dcd202bf14930"/>
    <p:sldId xmlns:r="http://schemas.openxmlformats.org/officeDocument/2006/relationships" id="258" r:id="Rf1e3e3af54c84d5a"/>
    <p:sldId xmlns:r="http://schemas.openxmlformats.org/officeDocument/2006/relationships" id="259" r:id="R14c853c4725b4da4"/>
    <p:sldId xmlns:r="http://schemas.openxmlformats.org/officeDocument/2006/relationships" id="260" r:id="R78c2d1c1ff66489b"/>
    <p:sldId xmlns:r="http://schemas.openxmlformats.org/officeDocument/2006/relationships" id="261" r:id="R10bd151ebef148e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b7895147e64e80" /><Relationship Type="http://schemas.openxmlformats.org/officeDocument/2006/relationships/slideMaster" Target="/ppt/slideMasters/slideMaster1.xml" Id="Rd9e756b10eef46f4" /><Relationship Type="http://schemas.openxmlformats.org/officeDocument/2006/relationships/notesMaster" Target="/ppt/notesMasters/notesMaster1.xml" Id="R8d5b3656a7ae4bdc" /><Relationship Type="http://schemas.openxmlformats.org/officeDocument/2006/relationships/presProps" Target="/ppt/presProps.xml" Id="Rc9696a29aafe4cad" /><Relationship Type="http://schemas.openxmlformats.org/officeDocument/2006/relationships/tableStyles" Target="/ppt/tableStyles.xml" Id="R2b5bd345e03c4fea" /><Relationship Type="http://schemas.openxmlformats.org/officeDocument/2006/relationships/slide" Target="/ppt/slides/slide1.xml" Id="R5b2bb3087c4e4e9c" /><Relationship Type="http://schemas.openxmlformats.org/officeDocument/2006/relationships/slide" Target="/ppt/slides/slide2.xml" Id="R183dcd202bf14930" /><Relationship Type="http://schemas.openxmlformats.org/officeDocument/2006/relationships/slide" Target="/ppt/slides/slide3.xml" Id="Rf1e3e3af54c84d5a" /><Relationship Type="http://schemas.openxmlformats.org/officeDocument/2006/relationships/slide" Target="/ppt/slides/slide4.xml" Id="R14c853c4725b4da4" /><Relationship Type="http://schemas.openxmlformats.org/officeDocument/2006/relationships/slide" Target="/ppt/slides/slide5.xml" Id="R78c2d1c1ff66489b" /><Relationship Type="http://schemas.openxmlformats.org/officeDocument/2006/relationships/slide" Target="/ppt/slides/slide6.xml" Id="R10bd151ebef148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10169043f548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9cfe9b8e2b4654" /><Relationship Type="http://schemas.openxmlformats.org/officeDocument/2006/relationships/notesMaster" Target="/ppt/notesMasters/notesMaster1.xml" Id="Rb5012a35441046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513ee69bcd4b82" /><Relationship Type="http://schemas.openxmlformats.org/officeDocument/2006/relationships/notesMaster" Target="/ppt/notesMasters/notesMaster1.xml" Id="R4e9389381b1141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7794a5b9904cfe" /><Relationship Type="http://schemas.openxmlformats.org/officeDocument/2006/relationships/notesMaster" Target="/ppt/notesMasters/notesMaster1.xml" Id="Rb99a5bd69e874c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ee569b5afa4fe6" /><Relationship Type="http://schemas.openxmlformats.org/officeDocument/2006/relationships/notesMaster" Target="/ppt/notesMasters/notesMaster1.xml" Id="R8ed48d9077fe48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5c14b11dff4602" /><Relationship Type="http://schemas.openxmlformats.org/officeDocument/2006/relationships/notesMaster" Target="/ppt/notesMasters/notesMaster1.xml" Id="R252584175c4d44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fc7be393bc4bd5" /><Relationship Type="http://schemas.openxmlformats.org/officeDocument/2006/relationships/notesMaster" Target="/ppt/notesMasters/notesMaster1.xml" Id="R7636a2da0c4e43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fc177780f24e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ddd847535f4cea" /><Relationship Type="http://schemas.openxmlformats.org/officeDocument/2006/relationships/slideLayout" Target="/ppt/slideLayouts/slideLayout1.xml" Id="Re81ccff7537846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1ccff7537846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ebddab29941eb" /><Relationship Type="http://schemas.openxmlformats.org/officeDocument/2006/relationships/image" Target="/ppt/media/image.jpeg" Id="R430797b962c948b5" /><Relationship Type="http://schemas.openxmlformats.org/officeDocument/2006/relationships/notesSlide" Target="/ppt/notesSlides/notesSlide1.xml" Id="R103478e0fd5f45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d30479f3c493c" /><Relationship Type="http://schemas.openxmlformats.org/officeDocument/2006/relationships/notesSlide" Target="/ppt/notesSlides/notesSlide2.xml" Id="Re3ad4fdea60740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89a7f7df540e9" /><Relationship Type="http://schemas.openxmlformats.org/officeDocument/2006/relationships/image" Target="/ppt/media/image2.jpeg" Id="Re8879248d8614bde" /><Relationship Type="http://schemas.openxmlformats.org/officeDocument/2006/relationships/image" Target="/ppt/media/image3.jpeg" Id="Ra47655bf7ebd48ae" /><Relationship Type="http://schemas.openxmlformats.org/officeDocument/2006/relationships/image" Target="/ppt/media/image4.jpeg" Id="R62bad1c4417347d3" /><Relationship Type="http://schemas.openxmlformats.org/officeDocument/2006/relationships/image" Target="/ppt/media/image5.jpeg" Id="R385f796098b04e1a" /><Relationship Type="http://schemas.openxmlformats.org/officeDocument/2006/relationships/notesSlide" Target="/ppt/notesSlides/notesSlide3.xml" Id="R451ecb5718794c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d2cfd83b34157" /><Relationship Type="http://schemas.openxmlformats.org/officeDocument/2006/relationships/notesSlide" Target="/ppt/notesSlides/notesSlide4.xml" Id="Rfd8dcc51c30847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02bd18e374009" /><Relationship Type="http://schemas.openxmlformats.org/officeDocument/2006/relationships/notesSlide" Target="/ppt/notesSlides/notesSlide5.xml" Id="Rd974091755644e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05e5277984d6a" /><Relationship Type="http://schemas.openxmlformats.org/officeDocument/2006/relationships/notesSlide" Target="/ppt/notesSlides/notesSlide6.xml" Id="R313bcdd386f145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rest-panel">
            <a:extLst xmlns:a="http://schemas.openxmlformats.org/drawingml/2006/main">
              <a:ext uri="{FF2B5EF4-FFF2-40B4-BE49-F238E27FC236}">
                <a16:creationId xmlns:a16="http://schemas.microsoft.com/office/drawing/2014/main" id="{EE53DB94-06BB-432A-B4EA-3DE4823C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nge-rule">
            <a:extLst xmlns:a="http://schemas.openxmlformats.org/drawingml/2006/main">
              <a:ext uri="{FF2B5EF4-FFF2-40B4-BE49-F238E27FC236}">
                <a16:creationId xmlns:a16="http://schemas.microsoft.com/office/drawing/2014/main" id="{5BAA2D1E-17D9-4BC7-97E7-7BB28215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6AC83A5-259B-4108-89D1-A695696E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171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0">
                <a:solidFill>
                  <a:srgbClr val="FBFAF5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5250" b="0">
                <a:solidFill>
                  <a:srgbClr val="FBFAF5"/>
                </a:solidFill>
                <a:latin typeface="DM Serif Display"/>
                <a:ea typeface="DM Serif Display"/>
                <a:cs typeface="DM Serif Display"/>
              </a:rPr>
              <a:t>MahaGetaways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4371360-9CC0-43A8-8043-625F9731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342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0E6"/>
                </a:solidFill>
                <a:latin typeface="DM Sans"/>
                <a:ea typeface="DM Sans"/>
                <a:cs typeface="DM Sans"/>
              </a:defRPr>
            </a:pPr>
            <a:r>
              <a:rPr sz="1650" b="0">
                <a:solidFill>
                  <a:srgbClr val="F4F0E6"/>
                </a:solidFill>
                <a:latin typeface="DM Sans"/>
                <a:ea typeface="DM Sans"/>
                <a:cs typeface="DM Sans"/>
              </a:rPr>
              <a:t>A marketplace for discovering and booking adventure experiences across Maharashtra.</a:t>
            </a:r>
          </a:p>
        </p:txBody>
      </p:sp>
      <p:sp>
        <p:nvSpPr>
          <p:cNvPr id="5" name="cover-editable-meta">
            <a:extLst xmlns:a="http://schemas.openxmlformats.org/drawingml/2006/main">
              <a:ext uri="{FF2B5EF4-FFF2-40B4-BE49-F238E27FC236}">
                <a16:creationId xmlns:a16="http://schemas.microsoft.com/office/drawing/2014/main" id="{57AB63EB-734D-421E-B71A-DF08DAC6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0E6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F4F0E6"/>
                </a:solidFill>
                <a:latin typeface="DM Sans"/>
                <a:ea typeface="DM Sans"/>
                <a:cs typeface="DM Sans"/>
              </a:rPr>
              <a:t>Team name: Editable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F4F0E6"/>
                </a:solidFill>
                <a:latin typeface="DM Sans"/>
                <a:ea typeface="DM Sans"/>
                <a:cs typeface="DM Sans"/>
              </a:rPr>
              <a:t>Hackathon name: Editable</a:t>
            </a:r>
          </a:p>
        </p:txBody>
      </p:sp>
      <p:sp>
        <p:nvSpPr>
          <p:cNvPr id="6" name="cover-label">
            <a:extLst xmlns:a="http://schemas.openxmlformats.org/drawingml/2006/main">
              <a:ext uri="{FF2B5EF4-FFF2-40B4-BE49-F238E27FC236}">
                <a16:creationId xmlns:a16="http://schemas.microsoft.com/office/drawing/2014/main" id="{5A21E497-D9E2-4517-94DA-7BF9259D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ED83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D9ED83"/>
                </a:solidFill>
                <a:latin typeface="DM Sans"/>
                <a:ea typeface="DM Sans"/>
                <a:cs typeface="DM Sans"/>
              </a:rPr>
              <a:t>Hackathon submission</a:t>
            </a:r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8762CAA4-D210-4E28-988A-80FB452A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200150"/>
            <a:ext cx="5829300" cy="38862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4F0E6"/>
          </a:solidFill>
          <a:ln xmlns:a="http://schemas.openxmlformats.org/drawingml/2006/main" w="11430">
            <a:solidFill>
              <a:srgbClr val="D9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797b962c948b5"/>
          <a:srcRect xmlns:a="http://schemas.openxmlformats.org/drawingml/2006/main" l="0" t="508" r="0" b="5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38800" y="1466850"/>
            <a:ext cx="5372100" cy="3028950"/>
          </a:xfrm>
          <a:prstGeom xmlns:a="http://schemas.openxmlformats.org/drawingml/2006/main" prst="roundRect">
            <a:avLst>
              <a:gd name="adj" fmla="val 5031"/>
            </a:avLst>
          </a:prstGeom>
        </p:spPr>
      </p:pic>
      <p:sp>
        <p:nvSpPr>
          <p:cNvPr id="9" name="cover-preview-label">
            <a:extLst xmlns:a="http://schemas.openxmlformats.org/drawingml/2006/main">
              <a:ext uri="{FF2B5EF4-FFF2-40B4-BE49-F238E27FC236}">
                <a16:creationId xmlns:a16="http://schemas.microsoft.com/office/drawing/2014/main" id="{6E47E6CC-AE1E-4437-B662-D92AE401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686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67069"/>
                </a:solidFill>
                <a:latin typeface="DM Sans"/>
                <a:ea typeface="DM Sans"/>
                <a:cs typeface="DM Sans"/>
              </a:rPr>
              <a:t>Live product preview</a:t>
            </a:r>
          </a:p>
        </p:txBody>
      </p:sp>
      <p:sp>
        <p:nvSpPr>
          <p:cNvPr id="10" name="image-dot">
            <a:extLst xmlns:a="http://schemas.openxmlformats.org/drawingml/2006/main">
              <a:ext uri="{FF2B5EF4-FFF2-40B4-BE49-F238E27FC236}">
                <a16:creationId xmlns:a16="http://schemas.microsoft.com/office/drawing/2014/main" id="{C214CA5B-3401-427F-AEA7-1084636C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667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6A3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41861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-index">
            <a:extLst xmlns:a="http://schemas.openxmlformats.org/drawingml/2006/main">
              <a:ext uri="{FF2B5EF4-FFF2-40B4-BE49-F238E27FC236}">
                <a16:creationId xmlns:a16="http://schemas.microsoft.com/office/drawing/2014/main" id="{59E62FB8-69B7-471A-AA4C-D2523D7B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6A3A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D76A3A"/>
                </a:solidFill>
                <a:latin typeface="DM Sans"/>
                <a:ea typeface="DM Sans"/>
                <a:cs typeface="DM Sans"/>
              </a:rPr>
              <a:t>02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47806268-51FC-44BB-B2EE-C0E3C985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315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rPr>
              <a:t>Problem &amp; Solution</a:t>
            </a:r>
          </a:p>
        </p:txBody>
      </p:sp>
      <p:sp>
        <p:nvSpPr>
          <p:cNvPr id="3" name="slide-2-brand">
            <a:extLst xmlns:a="http://schemas.openxmlformats.org/drawingml/2006/main">
              <a:ext uri="{FF2B5EF4-FFF2-40B4-BE49-F238E27FC236}">
                <a16:creationId xmlns:a16="http://schemas.microsoft.com/office/drawing/2014/main" id="{E7AE64A2-8C89-40BA-8DE9-D62F370D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530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6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67069"/>
                </a:solidFill>
                <a:latin typeface="DM Sans"/>
                <a:ea typeface="DM Sans"/>
                <a:cs typeface="DM Sans"/>
              </a:rPr>
              <a:t>MahaGetaways</a:t>
            </a:r>
          </a:p>
        </p:txBody>
      </p:sp>
      <p:sp>
        <p:nvSpPr>
          <p:cNvPr id="4" name="card">
            <a:extLst xmlns:a="http://schemas.openxmlformats.org/drawingml/2006/main">
              <a:ext uri="{FF2B5EF4-FFF2-40B4-BE49-F238E27FC236}">
                <a16:creationId xmlns:a16="http://schemas.microsoft.com/office/drawing/2014/main" id="{34D32AE6-4337-46BE-8327-8D152D8B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76250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problem-heading">
            <a:extLst xmlns:a="http://schemas.openxmlformats.org/drawingml/2006/main">
              <a:ext uri="{FF2B5EF4-FFF2-40B4-BE49-F238E27FC236}">
                <a16:creationId xmlns:a16="http://schemas.microsoft.com/office/drawing/2014/main" id="{09AF890A-3B22-4ADF-8B5C-076D4B0D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210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rPr>
              <a:t>The Problem</a:t>
            </a:r>
          </a:p>
        </p:txBody>
      </p:sp>
      <p:sp>
        <p:nvSpPr>
          <p:cNvPr id="6" name="problem-bullets">
            <a:extLst xmlns:a="http://schemas.openxmlformats.org/drawingml/2006/main">
              <a:ext uri="{FF2B5EF4-FFF2-40B4-BE49-F238E27FC236}">
                <a16:creationId xmlns:a16="http://schemas.microsoft.com/office/drawing/2014/main" id="{E10B0D35-6E72-40EA-BC8F-4DC16EA8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38290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0" rIns="762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31D"/>
                </a:solidFill>
                <a:latin typeface="DM Sans"/>
                <a:ea typeface="DM Sans"/>
                <a:cs typeface="DM Sans"/>
              </a:defRPr>
            </a:pPr>
            <a:r>
              <a:rPr sz="1500" b="0">
                <a:solidFill>
                  <a:srgbClr val="17231D"/>
                </a:solidFill>
                <a:latin typeface="DM Sans"/>
                <a:ea typeface="DM Sans"/>
                <a:cs typeface="DM Sans"/>
              </a:rPr>
              <a:t>• Adventure experiences are scattered across social media and individual operator pages.</a:t>
            </a:r>
          </a:p>
          <a:p xmlns:a="http://schemas.openxmlformats.org/drawingml/2006/main">
            <a:pPr algn="l">
              <a:defRPr sz="1500" b="0">
                <a:solidFill>
                  <a:srgbClr val="17231D"/>
                </a:solidFill>
                <a:latin typeface="DM Sans"/>
                <a:ea typeface="DM Sans"/>
                <a:cs typeface="DM Sans"/>
              </a:defRPr>
            </a:pPr>
            <a:r>
              <a:rPr sz="1500" b="0">
                <a:solidFill>
                  <a:srgbClr val="17231D"/>
                </a:solidFill>
                <a:latin typeface="DM Sans"/>
                <a:ea typeface="DM Sans"/>
                <a:cs typeface="DM Sans"/>
              </a:rPr>
              <a:t>• Comparing experiences is difficult.</a:t>
            </a:r>
          </a:p>
          <a:p xmlns:a="http://schemas.openxmlformats.org/drawingml/2006/main">
            <a:pPr algn="l">
              <a:defRPr sz="1500" b="0">
                <a:solidFill>
                  <a:srgbClr val="17231D"/>
                </a:solidFill>
                <a:latin typeface="DM Sans"/>
                <a:ea typeface="DM Sans"/>
                <a:cs typeface="DM Sans"/>
              </a:defRPr>
            </a:pPr>
            <a:r>
              <a:rPr sz="1500" b="0">
                <a:solidFill>
                  <a:srgbClr val="17231D"/>
                </a:solidFill>
                <a:latin typeface="DM Sans"/>
                <a:ea typeface="DM Sans"/>
                <a:cs typeface="DM Sans"/>
              </a:rPr>
              <a:t>• Booking lacks transparency and trust.</a:t>
            </a:r>
          </a:p>
        </p:txBody>
      </p:sp>
      <p:sp>
        <p:nvSpPr>
          <p:cNvPr id="7" name="orange-accent">
            <a:extLst xmlns:a="http://schemas.openxmlformats.org/drawingml/2006/main">
              <a:ext uri="{FF2B5EF4-FFF2-40B4-BE49-F238E27FC236}">
                <a16:creationId xmlns:a16="http://schemas.microsoft.com/office/drawing/2014/main" id="{11FBE1D9-B225-45B0-848C-BF6AC4DE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620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74AD2884-1059-4FDE-8555-7F44CB1D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57300"/>
            <a:ext cx="560070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73D2B"/>
          </a:solidFill>
          <a:ln xmlns:a="http://schemas.openxmlformats.org/drawingml/2006/main" w="11430">
            <a:solidFill>
              <a:srgbClr val="173D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olution-heading">
            <a:extLst xmlns:a="http://schemas.openxmlformats.org/drawingml/2006/main">
              <a:ext uri="{FF2B5EF4-FFF2-40B4-BE49-F238E27FC236}">
                <a16:creationId xmlns:a16="http://schemas.microsoft.com/office/drawing/2014/main" id="{E081312F-D77F-44BF-925E-E3205192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430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BFAF5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2100" b="0">
                <a:solidFill>
                  <a:srgbClr val="FBFAF5"/>
                </a:solidFill>
                <a:latin typeface="DM Serif Display"/>
                <a:ea typeface="DM Serif Display"/>
                <a:cs typeface="DM Serif Display"/>
              </a:rPr>
              <a:t>Our Solution</a:t>
            </a:r>
          </a:p>
        </p:txBody>
      </p:sp>
      <p:sp>
        <p:nvSpPr>
          <p:cNvPr id="10" name="solution-copy">
            <a:extLst xmlns:a="http://schemas.openxmlformats.org/drawingml/2006/main">
              <a:ext uri="{FF2B5EF4-FFF2-40B4-BE49-F238E27FC236}">
                <a16:creationId xmlns:a16="http://schemas.microsoft.com/office/drawing/2014/main" id="{3FE06606-C4F8-4DFF-BC3E-41A9E0A1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38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0E6"/>
                </a:solidFill>
                <a:latin typeface="DM Sans"/>
                <a:ea typeface="DM Sans"/>
                <a:cs typeface="DM Sans"/>
              </a:defRPr>
            </a:pPr>
            <a:r>
              <a:rPr sz="1425" b="0">
                <a:solidFill>
                  <a:srgbClr val="F4F0E6"/>
                </a:solidFill>
                <a:latin typeface="DM Sans"/>
                <a:ea typeface="DM Sans"/>
                <a:cs typeface="DM Sans"/>
              </a:rPr>
              <a:t>MahaGetaways brings verified local adventure operators together into one marketplace where travellers can discover, compare, and book experiences with transparent pricing and a consistent booking process.</a:t>
            </a:r>
          </a:p>
        </p:txBody>
      </p:sp>
      <p:sp>
        <p:nvSpPr>
          <p:cNvPr id="11" name="flow-node">
            <a:extLst xmlns:a="http://schemas.openxmlformats.org/drawingml/2006/main">
              <a:ext uri="{FF2B5EF4-FFF2-40B4-BE49-F238E27FC236}">
                <a16:creationId xmlns:a16="http://schemas.microsoft.com/office/drawing/2014/main" id="{3AD21A09-2C7D-4BEB-AE23-E95A7812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52800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low-label">
            <a:extLst xmlns:a="http://schemas.openxmlformats.org/drawingml/2006/main">
              <a:ext uri="{FF2B5EF4-FFF2-40B4-BE49-F238E27FC236}">
                <a16:creationId xmlns:a16="http://schemas.microsoft.com/office/drawing/2014/main" id="{20E55938-9A00-4500-8D9C-1F9258DC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5757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D2B"/>
                </a:solidFill>
                <a:latin typeface="DM Sans"/>
                <a:ea typeface="DM Sans"/>
                <a:cs typeface="DM Sans"/>
              </a:defRPr>
            </a:pPr>
            <a:r>
              <a:rPr sz="1350" b="0">
                <a:solidFill>
                  <a:srgbClr val="173D2B"/>
                </a:solidFill>
                <a:latin typeface="DM Sans"/>
                <a:ea typeface="DM Sans"/>
                <a:cs typeface="DM Sans"/>
              </a:rPr>
              <a:t>Traveller</a:t>
            </a:r>
          </a:p>
        </p:txBody>
      </p:sp>
      <p:sp>
        <p:nvSpPr>
          <p:cNvPr id="13" name="flow-node">
            <a:extLst xmlns:a="http://schemas.openxmlformats.org/drawingml/2006/main">
              <a:ext uri="{FF2B5EF4-FFF2-40B4-BE49-F238E27FC236}">
                <a16:creationId xmlns:a16="http://schemas.microsoft.com/office/drawing/2014/main" id="{BFAD2CB0-84EE-4A7C-A25B-8575F7A8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low-label">
            <a:extLst xmlns:a="http://schemas.openxmlformats.org/drawingml/2006/main">
              <a:ext uri="{FF2B5EF4-FFF2-40B4-BE49-F238E27FC236}">
                <a16:creationId xmlns:a16="http://schemas.microsoft.com/office/drawing/2014/main" id="{E782F0C8-62B1-472B-960C-BF13AEB2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005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D2B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173D2B"/>
                </a:solidFill>
                <a:latin typeface="DM Sans"/>
                <a:ea typeface="DM Sans"/>
                <a:cs typeface="DM Sans"/>
              </a:rPr>
              <a:t>MahaGetaways Marketplace</a:t>
            </a:r>
          </a:p>
        </p:txBody>
      </p:sp>
      <p:sp>
        <p:nvSpPr>
          <p:cNvPr id="15" name="flow-node">
            <a:extLst xmlns:a="http://schemas.openxmlformats.org/drawingml/2006/main">
              <a:ext uri="{FF2B5EF4-FFF2-40B4-BE49-F238E27FC236}">
                <a16:creationId xmlns:a16="http://schemas.microsoft.com/office/drawing/2014/main" id="{CFEA310F-0F31-415A-8B05-9FA9D052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38700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low-label">
            <a:extLst xmlns:a="http://schemas.openxmlformats.org/drawingml/2006/main">
              <a:ext uri="{FF2B5EF4-FFF2-40B4-BE49-F238E27FC236}">
                <a16:creationId xmlns:a16="http://schemas.microsoft.com/office/drawing/2014/main" id="{0CED91D0-1199-4560-956D-191AA233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4347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D2B"/>
                </a:solidFill>
                <a:latin typeface="DM Sans"/>
                <a:ea typeface="DM Sans"/>
                <a:cs typeface="DM Sans"/>
              </a:defRPr>
            </a:pPr>
            <a:r>
              <a:rPr sz="1350" b="0">
                <a:solidFill>
                  <a:srgbClr val="173D2B"/>
                </a:solidFill>
                <a:latin typeface="DM Sans"/>
                <a:ea typeface="DM Sans"/>
                <a:cs typeface="DM Sans"/>
              </a:rPr>
              <a:t>Verified Local Operator</a:t>
            </a:r>
          </a:p>
        </p:txBody>
      </p:sp>
      <p:sp>
        <p:nvSpPr>
          <p:cNvPr id="17" name="flow-arrow">
            <a:extLst xmlns:a="http://schemas.openxmlformats.org/drawingml/2006/main">
              <a:ext uri="{FF2B5EF4-FFF2-40B4-BE49-F238E27FC236}">
                <a16:creationId xmlns:a16="http://schemas.microsoft.com/office/drawing/2014/main" id="{E535A70B-7D2E-4B24-B7BD-8F27587F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719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D9ED83"/>
                </a:solidFill>
                <a:latin typeface="DM Sans"/>
                <a:ea typeface="DM Sans"/>
                <a:cs typeface="DM Sans"/>
              </a:defRPr>
            </a:pPr>
            <a:r>
              <a:rPr sz="1950" b="0">
                <a:solidFill>
                  <a:srgbClr val="D9ED83"/>
                </a:solidFill>
                <a:latin typeface="DM Sans"/>
                <a:ea typeface="DM Sans"/>
                <a:cs typeface="DM Sans"/>
              </a:rPr>
              <a:t>↓</a:t>
            </a:r>
          </a:p>
        </p:txBody>
      </p:sp>
      <p:sp>
        <p:nvSpPr>
          <p:cNvPr id="18" name="flow-arrow">
            <a:extLst xmlns:a="http://schemas.openxmlformats.org/drawingml/2006/main">
              <a:ext uri="{FF2B5EF4-FFF2-40B4-BE49-F238E27FC236}">
                <a16:creationId xmlns:a16="http://schemas.microsoft.com/office/drawing/2014/main" id="{7550B9A2-EE67-43B7-A09E-515D8CFF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148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D9ED83"/>
                </a:solidFill>
                <a:latin typeface="DM Sans"/>
                <a:ea typeface="DM Sans"/>
                <a:cs typeface="DM Sans"/>
              </a:defRPr>
            </a:pPr>
            <a:r>
              <a:rPr sz="1950" b="0">
                <a:solidFill>
                  <a:srgbClr val="D9ED83"/>
                </a:solidFill>
                <a:latin typeface="DM Sans"/>
                <a:ea typeface="DM Sans"/>
                <a:cs typeface="DM Sans"/>
              </a:rPr>
              <a:t>↓</a:t>
            </a:r>
          </a:p>
        </p:txBody>
      </p:sp>
    </p:spTree>
    <p:extLst>
      <p:ext uri="{BB962C8B-B14F-4D97-AF65-F5344CB8AC3E}">
        <p14:creationId xmlns:p14="http://schemas.microsoft.com/office/powerpoint/2010/main" val="4077644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3-index">
            <a:extLst xmlns:a="http://schemas.openxmlformats.org/drawingml/2006/main">
              <a:ext uri="{FF2B5EF4-FFF2-40B4-BE49-F238E27FC236}">
                <a16:creationId xmlns:a16="http://schemas.microsoft.com/office/drawing/2014/main" id="{48CA09AA-DE3F-409C-916B-0193B34F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6A3A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D76A3A"/>
                </a:solidFill>
                <a:latin typeface="DM Sans"/>
                <a:ea typeface="DM Sans"/>
                <a:cs typeface="DM Sans"/>
              </a:rPr>
              <a:t>03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E1099190-DC54-44C8-8A0A-AD0800CC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315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rPr>
              <a:t>Product Walkthrough</a:t>
            </a:r>
          </a:p>
        </p:txBody>
      </p:sp>
      <p:sp>
        <p:nvSpPr>
          <p:cNvPr id="3" name="slide-3-brand">
            <a:extLst xmlns:a="http://schemas.openxmlformats.org/drawingml/2006/main">
              <a:ext uri="{FF2B5EF4-FFF2-40B4-BE49-F238E27FC236}">
                <a16:creationId xmlns:a16="http://schemas.microsoft.com/office/drawing/2014/main" id="{0714F265-5E84-4B24-8760-087D8B0A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530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6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67069"/>
                </a:solidFill>
                <a:latin typeface="DM Sans"/>
                <a:ea typeface="DM Sans"/>
                <a:cs typeface="DM Sans"/>
              </a:rPr>
              <a:t>MahaGetaways</a:t>
            </a:r>
          </a:p>
        </p:txBody>
      </p:sp>
      <p:sp>
        <p:nvSpPr>
          <p:cNvPr id="4" name="card">
            <a:extLst xmlns:a="http://schemas.openxmlformats.org/drawingml/2006/main">
              <a:ext uri="{FF2B5EF4-FFF2-40B4-BE49-F238E27FC236}">
                <a16:creationId xmlns:a16="http://schemas.microsoft.com/office/drawing/2014/main" id="{DE9BEE73-2934-49DE-98DD-8856F1B8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2628900" cy="43243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879248d8614bde"/>
          <a:srcRect xmlns:a="http://schemas.openxmlformats.org/drawingml/2006/main" l="27361" t="0" r="273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09700"/>
            <a:ext cx="2362200" cy="2971800"/>
          </a:xfrm>
          <a:prstGeom xmlns:a="http://schemas.openxmlformats.org/drawingml/2006/main" prst="roundRect">
            <a:avLst>
              <a:gd name="adj" fmla="val 4839"/>
            </a:avLst>
          </a:prstGeom>
        </p:spPr>
      </p:pic>
      <p:sp>
        <p:nvSpPr>
          <p:cNvPr id="6" name="walkthrough-caption-title">
            <a:extLst xmlns:a="http://schemas.openxmlformats.org/drawingml/2006/main">
              <a:ext uri="{FF2B5EF4-FFF2-40B4-BE49-F238E27FC236}">
                <a16:creationId xmlns:a16="http://schemas.microsoft.com/office/drawing/2014/main" id="{C0C01FF1-3377-4E56-A54D-C9F76AE8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180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rPr>
              <a:t>Homepage</a:t>
            </a:r>
          </a:p>
        </p:txBody>
      </p:sp>
      <p:sp>
        <p:nvSpPr>
          <p:cNvPr id="7" name="walkthrough-caption">
            <a:extLst xmlns:a="http://schemas.openxmlformats.org/drawingml/2006/main">
              <a:ext uri="{FF2B5EF4-FFF2-40B4-BE49-F238E27FC236}">
                <a16:creationId xmlns:a16="http://schemas.microsoft.com/office/drawing/2014/main" id="{A0CDF66C-BA2B-4785-A778-084B2AF3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67069"/>
                </a:solidFill>
                <a:latin typeface="DM Sans"/>
                <a:ea typeface="DM Sans"/>
                <a:cs typeface="DM Sans"/>
              </a:rPr>
              <a:t>Browse curated adventures</a:t>
            </a:r>
          </a:p>
        </p:txBody>
      </p:sp>
      <p:sp>
        <p:nvSpPr>
          <p:cNvPr id="8" name="walkthrough-arrow">
            <a:extLst xmlns:a="http://schemas.openxmlformats.org/drawingml/2006/main">
              <a:ext uri="{FF2B5EF4-FFF2-40B4-BE49-F238E27FC236}">
                <a16:creationId xmlns:a16="http://schemas.microsoft.com/office/drawing/2014/main" id="{F19C3AA3-595D-447A-9253-2CBC98AE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718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6A3A"/>
                </a:solidFill>
                <a:latin typeface="DM Sans"/>
                <a:ea typeface="DM Sans"/>
                <a:cs typeface="DM Sans"/>
              </a:defRPr>
            </a:pPr>
            <a:r>
              <a:rPr sz="2100" b="1">
                <a:solidFill>
                  <a:srgbClr val="D76A3A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EB1DD86F-9B66-48E6-A75A-8282E28D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257300"/>
            <a:ext cx="2628900" cy="43243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655bf7ebd48ae"/>
          <a:srcRect xmlns:a="http://schemas.openxmlformats.org/drawingml/2006/main" l="27644" t="0" r="276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05200" y="1409700"/>
            <a:ext cx="2362200" cy="2971800"/>
          </a:xfrm>
          <a:prstGeom xmlns:a="http://schemas.openxmlformats.org/drawingml/2006/main" prst="roundRect">
            <a:avLst>
              <a:gd name="adj" fmla="val 4839"/>
            </a:avLst>
          </a:prstGeom>
        </p:spPr>
      </p:pic>
      <p:sp>
        <p:nvSpPr>
          <p:cNvPr id="11" name="walkthrough-caption-title">
            <a:extLst xmlns:a="http://schemas.openxmlformats.org/drawingml/2006/main">
              <a:ext uri="{FF2B5EF4-FFF2-40B4-BE49-F238E27FC236}">
                <a16:creationId xmlns:a16="http://schemas.microsoft.com/office/drawing/2014/main" id="{870EDD8D-0A99-45C5-8890-B0071FA1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91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180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rPr>
              <a:t>Experience Details</a:t>
            </a:r>
          </a:p>
        </p:txBody>
      </p:sp>
      <p:sp>
        <p:nvSpPr>
          <p:cNvPr id="12" name="walkthrough-caption">
            <a:extLst xmlns:a="http://schemas.openxmlformats.org/drawingml/2006/main">
              <a:ext uri="{FF2B5EF4-FFF2-40B4-BE49-F238E27FC236}">
                <a16:creationId xmlns:a16="http://schemas.microsoft.com/office/drawing/2014/main" id="{CF9215B2-03F3-4DC9-9545-05013C54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720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67069"/>
                </a:solidFill>
                <a:latin typeface="DM Sans"/>
                <a:ea typeface="DM Sans"/>
                <a:cs typeface="DM Sans"/>
              </a:rPr>
              <a:t>Review itinerary and operator</a:t>
            </a:r>
          </a:p>
        </p:txBody>
      </p:sp>
      <p:sp>
        <p:nvSpPr>
          <p:cNvPr id="13" name="walkthrough-arrow">
            <a:extLst xmlns:a="http://schemas.openxmlformats.org/drawingml/2006/main">
              <a:ext uri="{FF2B5EF4-FFF2-40B4-BE49-F238E27FC236}">
                <a16:creationId xmlns:a16="http://schemas.microsoft.com/office/drawing/2014/main" id="{6DD15962-9FEA-4094-AED4-B56A4875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718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6A3A"/>
                </a:solidFill>
                <a:latin typeface="DM Sans"/>
                <a:ea typeface="DM Sans"/>
                <a:cs typeface="DM Sans"/>
              </a:defRPr>
            </a:pPr>
            <a:r>
              <a:rPr sz="2100" b="1">
                <a:solidFill>
                  <a:srgbClr val="D76A3A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14" name="card">
            <a:extLst xmlns:a="http://schemas.openxmlformats.org/drawingml/2006/main">
              <a:ext uri="{FF2B5EF4-FFF2-40B4-BE49-F238E27FC236}">
                <a16:creationId xmlns:a16="http://schemas.microsoft.com/office/drawing/2014/main" id="{4FBDB013-BBC3-47A1-B845-10CC1DA5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57300"/>
            <a:ext cx="2628900" cy="43243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ad1c4417347d3"/>
          <a:srcRect xmlns:a="http://schemas.openxmlformats.org/drawingml/2006/main" l="27644" t="0" r="276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1409700"/>
            <a:ext cx="2362200" cy="2971800"/>
          </a:xfrm>
          <a:prstGeom xmlns:a="http://schemas.openxmlformats.org/drawingml/2006/main" prst="roundRect">
            <a:avLst>
              <a:gd name="adj" fmla="val 4839"/>
            </a:avLst>
          </a:prstGeom>
        </p:spPr>
      </p:pic>
      <p:sp>
        <p:nvSpPr>
          <p:cNvPr id="16" name="walkthrough-caption-title">
            <a:extLst xmlns:a="http://schemas.openxmlformats.org/drawingml/2006/main">
              <a:ext uri="{FF2B5EF4-FFF2-40B4-BE49-F238E27FC236}">
                <a16:creationId xmlns:a16="http://schemas.microsoft.com/office/drawing/2014/main" id="{6BD18990-3599-436F-96FB-46DECF71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91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180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rPr>
              <a:t>Booking</a:t>
            </a:r>
          </a:p>
        </p:txBody>
      </p:sp>
      <p:sp>
        <p:nvSpPr>
          <p:cNvPr id="17" name="walkthrough-caption">
            <a:extLst xmlns:a="http://schemas.openxmlformats.org/drawingml/2006/main">
              <a:ext uri="{FF2B5EF4-FFF2-40B4-BE49-F238E27FC236}">
                <a16:creationId xmlns:a16="http://schemas.microsoft.com/office/drawing/2014/main" id="{6E2CDF06-C5A9-4B55-9240-22DC5208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720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67069"/>
                </a:solidFill>
                <a:latin typeface="DM Sans"/>
                <a:ea typeface="DM Sans"/>
                <a:cs typeface="DM Sans"/>
              </a:rPr>
              <a:t>Choose date and traveller details</a:t>
            </a:r>
          </a:p>
        </p:txBody>
      </p:sp>
      <p:sp>
        <p:nvSpPr>
          <p:cNvPr id="18" name="walkthrough-arrow">
            <a:extLst xmlns:a="http://schemas.openxmlformats.org/drawingml/2006/main">
              <a:ext uri="{FF2B5EF4-FFF2-40B4-BE49-F238E27FC236}">
                <a16:creationId xmlns:a16="http://schemas.microsoft.com/office/drawing/2014/main" id="{39040108-C905-4D2C-A21B-407BB8A4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718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6A3A"/>
                </a:solidFill>
                <a:latin typeface="DM Sans"/>
                <a:ea typeface="DM Sans"/>
                <a:cs typeface="DM Sans"/>
              </a:defRPr>
            </a:pPr>
            <a:r>
              <a:rPr sz="2100" b="1">
                <a:solidFill>
                  <a:srgbClr val="D76A3A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19" name="card">
            <a:extLst xmlns:a="http://schemas.openxmlformats.org/drawingml/2006/main">
              <a:ext uri="{FF2B5EF4-FFF2-40B4-BE49-F238E27FC236}">
                <a16:creationId xmlns:a16="http://schemas.microsoft.com/office/drawing/2014/main" id="{86A7753E-18A4-495D-8777-15CC8656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257300"/>
            <a:ext cx="2628900" cy="43243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f796098b04e1a"/>
          <a:srcRect xmlns:a="http://schemas.openxmlformats.org/drawingml/2006/main" l="27644" t="0" r="276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0" y="1409700"/>
            <a:ext cx="2362200" cy="2971800"/>
          </a:xfrm>
          <a:prstGeom xmlns:a="http://schemas.openxmlformats.org/drawingml/2006/main" prst="roundRect">
            <a:avLst>
              <a:gd name="adj" fmla="val 4839"/>
            </a:avLst>
          </a:prstGeom>
        </p:spPr>
      </p:pic>
      <p:sp>
        <p:nvSpPr>
          <p:cNvPr id="21" name="walkthrough-caption-title">
            <a:extLst xmlns:a="http://schemas.openxmlformats.org/drawingml/2006/main">
              <a:ext uri="{FF2B5EF4-FFF2-40B4-BE49-F238E27FC236}">
                <a16:creationId xmlns:a16="http://schemas.microsoft.com/office/drawing/2014/main" id="{F7A83581-39AC-43A2-9BE2-E34AAB1F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91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180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rPr>
              <a:t>Confirmation</a:t>
            </a:r>
          </a:p>
        </p:txBody>
      </p:sp>
      <p:sp>
        <p:nvSpPr>
          <p:cNvPr id="22" name="walkthrough-caption">
            <a:extLst xmlns:a="http://schemas.openxmlformats.org/drawingml/2006/main">
              <a:ext uri="{FF2B5EF4-FFF2-40B4-BE49-F238E27FC236}">
                <a16:creationId xmlns:a16="http://schemas.microsoft.com/office/drawing/2014/main" id="{8ECA1195-93D4-41AF-A68C-C7373A32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9720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67069"/>
                </a:solidFill>
                <a:latin typeface="DM Sans"/>
                <a:ea typeface="DM Sans"/>
                <a:cs typeface="DM Sans"/>
              </a:rPr>
              <a:t>Receive reference and handoff</a:t>
            </a:r>
          </a:p>
        </p:txBody>
      </p:sp>
      <p:sp>
        <p:nvSpPr>
          <p:cNvPr id="23" name="walkthrough-note">
            <a:extLst xmlns:a="http://schemas.openxmlformats.org/drawingml/2006/main">
              <a:ext uri="{FF2B5EF4-FFF2-40B4-BE49-F238E27FC236}">
                <a16:creationId xmlns:a16="http://schemas.microsoft.com/office/drawing/2014/main" id="{D0ABDC96-4361-4B8A-9CDE-DEBC6111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62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9"/>
                </a:solidFill>
                <a:latin typeface="DM Sans"/>
                <a:ea typeface="DM Sans"/>
                <a:cs typeface="DM Sans"/>
              </a:defRPr>
            </a:pPr>
            <a:r>
              <a:rPr sz="1350" b="0">
                <a:solidFill>
                  <a:srgbClr val="667069"/>
                </a:solidFill>
                <a:latin typeface="DM Sans"/>
                <a:ea typeface="DM Sans"/>
                <a:cs typeface="DM Sans"/>
              </a:rPr>
              <a:t>A simple path from discovery to confirmed operator handoff.</a:t>
            </a:r>
          </a:p>
        </p:txBody>
      </p:sp>
    </p:spTree>
    <p:extLst>
      <p:ext uri="{BB962C8B-B14F-4D97-AF65-F5344CB8AC3E}">
        <p14:creationId xmlns:p14="http://schemas.microsoft.com/office/powerpoint/2010/main" val="9973527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4-index">
            <a:extLst xmlns:a="http://schemas.openxmlformats.org/drawingml/2006/main">
              <a:ext uri="{FF2B5EF4-FFF2-40B4-BE49-F238E27FC236}">
                <a16:creationId xmlns:a16="http://schemas.microsoft.com/office/drawing/2014/main" id="{18600FEB-F142-4B37-B7E7-6CC703B2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6A3A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D76A3A"/>
                </a:solidFill>
                <a:latin typeface="DM Sans"/>
                <a:ea typeface="DM Sans"/>
                <a:cs typeface="DM Sans"/>
              </a:rPr>
              <a:t>04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886BA7D5-2F8C-4A23-A6E6-7DA2AC68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315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rPr>
              <a:t>Key Features</a:t>
            </a:r>
          </a:p>
        </p:txBody>
      </p:sp>
      <p:sp>
        <p:nvSpPr>
          <p:cNvPr id="3" name="slide-4-brand">
            <a:extLst xmlns:a="http://schemas.openxmlformats.org/drawingml/2006/main">
              <a:ext uri="{FF2B5EF4-FFF2-40B4-BE49-F238E27FC236}">
                <a16:creationId xmlns:a16="http://schemas.microsoft.com/office/drawing/2014/main" id="{27BE6FF3-D40B-480F-AD66-F1A04B61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530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6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67069"/>
                </a:solidFill>
                <a:latin typeface="DM Sans"/>
                <a:ea typeface="DM Sans"/>
                <a:cs typeface="DM Sans"/>
              </a:rPr>
              <a:t>MahaGetaways</a:t>
            </a:r>
          </a:p>
        </p:txBody>
      </p:sp>
      <p:sp>
        <p:nvSpPr>
          <p:cNvPr id="4" name="card">
            <a:extLst xmlns:a="http://schemas.openxmlformats.org/drawingml/2006/main">
              <a:ext uri="{FF2B5EF4-FFF2-40B4-BE49-F238E27FC236}">
                <a16:creationId xmlns:a16="http://schemas.microsoft.com/office/drawing/2014/main" id="{007FF44F-0127-4990-B12C-06722E76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33909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icon-circle">
            <a:extLst xmlns:a="http://schemas.openxmlformats.org/drawingml/2006/main">
              <a:ext uri="{FF2B5EF4-FFF2-40B4-BE49-F238E27FC236}">
                <a16:creationId xmlns:a16="http://schemas.microsoft.com/office/drawing/2014/main" id="{03C36FBA-25E4-4D9B-9B8B-80D7D291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66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ditable-icon">
            <a:extLst xmlns:a="http://schemas.openxmlformats.org/drawingml/2006/main">
              <a:ext uri="{FF2B5EF4-FFF2-40B4-BE49-F238E27FC236}">
                <a16:creationId xmlns:a16="http://schemas.microsoft.com/office/drawing/2014/main" id="{4F071243-C73E-44CF-956D-2F856A9C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859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D2B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173D2B"/>
                </a:solidFill>
                <a:latin typeface="DM Sans"/>
                <a:ea typeface="DM Sans"/>
                <a:cs typeface="DM Sans"/>
              </a:rPr>
              <a:t>⌕</a:t>
            </a:r>
          </a:p>
        </p:txBody>
      </p:sp>
      <p:sp>
        <p:nvSpPr>
          <p:cNvPr id="7" name="feature-title">
            <a:extLst xmlns:a="http://schemas.openxmlformats.org/drawingml/2006/main">
              <a:ext uri="{FF2B5EF4-FFF2-40B4-BE49-F238E27FC236}">
                <a16:creationId xmlns:a16="http://schemas.microsoft.com/office/drawing/2014/main" id="{41B180AB-00A6-416F-84DF-0CEC419D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7637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165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rPr>
              <a:t>Adventure Discovery</a:t>
            </a:r>
          </a:p>
        </p:txBody>
      </p:sp>
      <p:sp>
        <p:nvSpPr>
          <p:cNvPr id="8" name="feature-copy">
            <a:extLst xmlns:a="http://schemas.openxmlformats.org/drawingml/2006/main">
              <a:ext uri="{FF2B5EF4-FFF2-40B4-BE49-F238E27FC236}">
                <a16:creationId xmlns:a16="http://schemas.microsoft.com/office/drawing/2014/main" id="{4C868891-957C-4864-8B91-341BD7C3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288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67069"/>
                </a:solidFill>
                <a:latin typeface="DM Sans"/>
                <a:ea typeface="DM Sans"/>
                <a:cs typeface="DM Sans"/>
              </a:rPr>
              <a:t>Browse six curated outdoor experiences across Maharashtra.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1DE992C0-1090-4EC5-99E6-05940A2C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238250"/>
            <a:ext cx="33909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icon-circle">
            <a:extLst xmlns:a="http://schemas.openxmlformats.org/drawingml/2006/main">
              <a:ext uri="{FF2B5EF4-FFF2-40B4-BE49-F238E27FC236}">
                <a16:creationId xmlns:a16="http://schemas.microsoft.com/office/drawing/2014/main" id="{C62E5B34-6819-4B84-97FB-22EAB3D8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466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ditable-icon">
            <a:extLst xmlns:a="http://schemas.openxmlformats.org/drawingml/2006/main">
              <a:ext uri="{FF2B5EF4-FFF2-40B4-BE49-F238E27FC236}">
                <a16:creationId xmlns:a16="http://schemas.microsoft.com/office/drawing/2014/main" id="{D58E7858-072E-4169-A36E-53C6BAEC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4859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D2B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173D2B"/>
                </a:solidFill>
                <a:latin typeface="DM Sans"/>
                <a:ea typeface="DM Sans"/>
                <a:cs typeface="DM Sans"/>
              </a:rPr>
              <a:t>▣</a:t>
            </a:r>
          </a:p>
        </p:txBody>
      </p:sp>
      <p:sp>
        <p:nvSpPr>
          <p:cNvPr id="12" name="feature-title">
            <a:extLst xmlns:a="http://schemas.openxmlformats.org/drawingml/2006/main">
              <a:ext uri="{FF2B5EF4-FFF2-40B4-BE49-F238E27FC236}">
                <a16:creationId xmlns:a16="http://schemas.microsoft.com/office/drawing/2014/main" id="{B3EE798D-5C3E-4C30-9812-FB432920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47637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165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rPr>
              <a:t>Smart Filtering</a:t>
            </a:r>
          </a:p>
        </p:txBody>
      </p:sp>
      <p:sp>
        <p:nvSpPr>
          <p:cNvPr id="13" name="feature-copy">
            <a:extLst xmlns:a="http://schemas.openxmlformats.org/drawingml/2006/main">
              <a:ext uri="{FF2B5EF4-FFF2-40B4-BE49-F238E27FC236}">
                <a16:creationId xmlns:a16="http://schemas.microsoft.com/office/drawing/2014/main" id="{F64AD12E-60D6-4A6F-8F66-7C4211E9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288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67069"/>
                </a:solidFill>
                <a:latin typeface="DM Sans"/>
                <a:ea typeface="DM Sans"/>
                <a:cs typeface="DM Sans"/>
              </a:rPr>
              <a:t>Narrow trips by activity or destination.</a:t>
            </a:r>
          </a:p>
        </p:txBody>
      </p:sp>
      <p:sp>
        <p:nvSpPr>
          <p:cNvPr id="14" name="card">
            <a:extLst xmlns:a="http://schemas.openxmlformats.org/drawingml/2006/main">
              <a:ext uri="{FF2B5EF4-FFF2-40B4-BE49-F238E27FC236}">
                <a16:creationId xmlns:a16="http://schemas.microsoft.com/office/drawing/2014/main" id="{1A7BD99B-E84E-46B9-B0CD-95D6DEAE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38250"/>
            <a:ext cx="33909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icon-circle">
            <a:extLst xmlns:a="http://schemas.openxmlformats.org/drawingml/2006/main">
              <a:ext uri="{FF2B5EF4-FFF2-40B4-BE49-F238E27FC236}">
                <a16:creationId xmlns:a16="http://schemas.microsoft.com/office/drawing/2014/main" id="{7BBA5357-0935-431F-86CC-4EB2B5DB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466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ditable-icon">
            <a:extLst xmlns:a="http://schemas.openxmlformats.org/drawingml/2006/main">
              <a:ext uri="{FF2B5EF4-FFF2-40B4-BE49-F238E27FC236}">
                <a16:creationId xmlns:a16="http://schemas.microsoft.com/office/drawing/2014/main" id="{A541A46F-B2E8-43D1-AA2E-8A21489F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4859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D2B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173D2B"/>
                </a:solidFill>
                <a:latin typeface="DM Sans"/>
                <a:ea typeface="DM Sans"/>
                <a:cs typeface="DM Sans"/>
              </a:rPr>
              <a:t>☰</a:t>
            </a:r>
          </a:p>
        </p:txBody>
      </p:sp>
      <p:sp>
        <p:nvSpPr>
          <p:cNvPr id="17" name="feature-title">
            <a:extLst xmlns:a="http://schemas.openxmlformats.org/drawingml/2006/main">
              <a:ext uri="{FF2B5EF4-FFF2-40B4-BE49-F238E27FC236}">
                <a16:creationId xmlns:a16="http://schemas.microsoft.com/office/drawing/2014/main" id="{B35ED66D-BF85-499F-B096-94396013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7637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165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rPr>
              <a:t>Detailed Pages</a:t>
            </a:r>
          </a:p>
        </p:txBody>
      </p:sp>
      <p:sp>
        <p:nvSpPr>
          <p:cNvPr id="18" name="feature-copy">
            <a:extLst xmlns:a="http://schemas.openxmlformats.org/drawingml/2006/main">
              <a:ext uri="{FF2B5EF4-FFF2-40B4-BE49-F238E27FC236}">
                <a16:creationId xmlns:a16="http://schemas.microsoft.com/office/drawing/2014/main" id="{24F31169-A7E0-49FA-BF72-E0214A94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288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67069"/>
                </a:solidFill>
                <a:latin typeface="DM Sans"/>
                <a:ea typeface="DM Sans"/>
                <a:cs typeface="DM Sans"/>
              </a:rPr>
              <a:t>See itinerary, inclusions, difficulty and operator info.</a:t>
            </a:r>
          </a:p>
        </p:txBody>
      </p:sp>
      <p:sp>
        <p:nvSpPr>
          <p:cNvPr id="19" name="card">
            <a:extLst xmlns:a="http://schemas.openxmlformats.org/drawingml/2006/main">
              <a:ext uri="{FF2B5EF4-FFF2-40B4-BE49-F238E27FC236}">
                <a16:creationId xmlns:a16="http://schemas.microsoft.com/office/drawing/2014/main" id="{856C6D08-B5D1-417A-B828-ED0F4DED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33909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icon-circle">
            <a:extLst xmlns:a="http://schemas.openxmlformats.org/drawingml/2006/main">
              <a:ext uri="{FF2B5EF4-FFF2-40B4-BE49-F238E27FC236}">
                <a16:creationId xmlns:a16="http://schemas.microsoft.com/office/drawing/2014/main" id="{2BE6A80E-5093-4EDD-9D45-6A441146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editable-icon">
            <a:extLst xmlns:a="http://schemas.openxmlformats.org/drawingml/2006/main">
              <a:ext uri="{FF2B5EF4-FFF2-40B4-BE49-F238E27FC236}">
                <a16:creationId xmlns:a16="http://schemas.microsoft.com/office/drawing/2014/main" id="{D3AB1D1F-DADA-4E7E-976C-63B796EF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D2B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173D2B"/>
                </a:solidFill>
                <a:latin typeface="DM Sans"/>
                <a:ea typeface="DM Sans"/>
                <a:cs typeface="DM Sans"/>
              </a:rPr>
              <a:t>₹</a:t>
            </a:r>
          </a:p>
        </p:txBody>
      </p:sp>
      <p:sp>
        <p:nvSpPr>
          <p:cNvPr id="22" name="feature-title">
            <a:extLst xmlns:a="http://schemas.openxmlformats.org/drawingml/2006/main">
              <a:ext uri="{FF2B5EF4-FFF2-40B4-BE49-F238E27FC236}">
                <a16:creationId xmlns:a16="http://schemas.microsoft.com/office/drawing/2014/main" id="{EAF872F7-3DED-41BB-916E-4F3DFBF6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4322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165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rPr>
              <a:t>Transparent Pricing</a:t>
            </a:r>
          </a:p>
        </p:txBody>
      </p:sp>
      <p:sp>
        <p:nvSpPr>
          <p:cNvPr id="23" name="feature-copy">
            <a:extLst xmlns:a="http://schemas.openxmlformats.org/drawingml/2006/main">
              <a:ext uri="{FF2B5EF4-FFF2-40B4-BE49-F238E27FC236}">
                <a16:creationId xmlns:a16="http://schemas.microsoft.com/office/drawing/2014/main" id="{819BC744-A803-4B5A-B657-C900AEF5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956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67069"/>
                </a:solidFill>
                <a:latin typeface="DM Sans"/>
                <a:ea typeface="DM Sans"/>
                <a:cs typeface="DM Sans"/>
              </a:rPr>
              <a:t>Review cost and 4% platform fee before checkout.</a:t>
            </a:r>
          </a:p>
        </p:txBody>
      </p:sp>
      <p:sp>
        <p:nvSpPr>
          <p:cNvPr id="24" name="card">
            <a:extLst xmlns:a="http://schemas.openxmlformats.org/drawingml/2006/main">
              <a:ext uri="{FF2B5EF4-FFF2-40B4-BE49-F238E27FC236}">
                <a16:creationId xmlns:a16="http://schemas.microsoft.com/office/drawing/2014/main" id="{E45B9E36-366F-439F-9806-8692E471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05100"/>
            <a:ext cx="33909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icon-circle">
            <a:extLst xmlns:a="http://schemas.openxmlformats.org/drawingml/2006/main">
              <a:ext uri="{FF2B5EF4-FFF2-40B4-BE49-F238E27FC236}">
                <a16:creationId xmlns:a16="http://schemas.microsoft.com/office/drawing/2014/main" id="{58A1A767-DFA6-4BF8-86EE-1A16F7F2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33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editable-icon">
            <a:extLst xmlns:a="http://schemas.openxmlformats.org/drawingml/2006/main">
              <a:ext uri="{FF2B5EF4-FFF2-40B4-BE49-F238E27FC236}">
                <a16:creationId xmlns:a16="http://schemas.microsoft.com/office/drawing/2014/main" id="{CE7A24B9-CA24-498F-BAEB-89C2A803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527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D2B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173D2B"/>
                </a:solidFill>
                <a:latin typeface="DM Sans"/>
                <a:ea typeface="DM Sans"/>
                <a:cs typeface="DM Sans"/>
              </a:rPr>
              <a:t>✓</a:t>
            </a:r>
          </a:p>
        </p:txBody>
      </p:sp>
      <p:sp>
        <p:nvSpPr>
          <p:cNvPr id="27" name="feature-title">
            <a:extLst xmlns:a="http://schemas.openxmlformats.org/drawingml/2006/main">
              <a:ext uri="{FF2B5EF4-FFF2-40B4-BE49-F238E27FC236}">
                <a16:creationId xmlns:a16="http://schemas.microsoft.com/office/drawing/2014/main" id="{6DA49F46-C3EE-48AA-A440-D2D39EEF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4322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165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rPr>
              <a:t>Verified Operators</a:t>
            </a:r>
          </a:p>
        </p:txBody>
      </p:sp>
      <p:sp>
        <p:nvSpPr>
          <p:cNvPr id="28" name="feature-copy">
            <a:extLst xmlns:a="http://schemas.openxmlformats.org/drawingml/2006/main">
              <a:ext uri="{FF2B5EF4-FFF2-40B4-BE49-F238E27FC236}">
                <a16:creationId xmlns:a16="http://schemas.microsoft.com/office/drawing/2014/main" id="{04EBEE0A-7578-4ACF-BC4F-6998B1DB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956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67069"/>
                </a:solidFill>
                <a:latin typeface="DM Sans"/>
                <a:ea typeface="DM Sans"/>
                <a:cs typeface="DM Sans"/>
              </a:rPr>
              <a:t>Profiles show ratings, trips and hosting history.</a:t>
            </a:r>
          </a:p>
        </p:txBody>
      </p:sp>
      <p:sp>
        <p:nvSpPr>
          <p:cNvPr id="29" name="card">
            <a:extLst xmlns:a="http://schemas.openxmlformats.org/drawingml/2006/main">
              <a:ext uri="{FF2B5EF4-FFF2-40B4-BE49-F238E27FC236}">
                <a16:creationId xmlns:a16="http://schemas.microsoft.com/office/drawing/2014/main" id="{F61B4AA5-3C80-4073-A801-0D87032C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05100"/>
            <a:ext cx="33909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icon-circle">
            <a:extLst xmlns:a="http://schemas.openxmlformats.org/drawingml/2006/main">
              <a:ext uri="{FF2B5EF4-FFF2-40B4-BE49-F238E27FC236}">
                <a16:creationId xmlns:a16="http://schemas.microsoft.com/office/drawing/2014/main" id="{532F7919-6D71-4EDE-B7F1-30195862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33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editable-icon">
            <a:extLst xmlns:a="http://schemas.openxmlformats.org/drawingml/2006/main">
              <a:ext uri="{FF2B5EF4-FFF2-40B4-BE49-F238E27FC236}">
                <a16:creationId xmlns:a16="http://schemas.microsoft.com/office/drawing/2014/main" id="{5E0EDA4B-DB3F-4A11-A7E8-2FCD1082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527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D2B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173D2B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32" name="feature-title">
            <a:extLst xmlns:a="http://schemas.openxmlformats.org/drawingml/2006/main">
              <a:ext uri="{FF2B5EF4-FFF2-40B4-BE49-F238E27FC236}">
                <a16:creationId xmlns:a16="http://schemas.microsoft.com/office/drawing/2014/main" id="{767085C3-3031-4B12-AEEE-2FAC96EB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4322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165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rPr>
              <a:t>Guided Booking</a:t>
            </a:r>
          </a:p>
        </p:txBody>
      </p:sp>
      <p:sp>
        <p:nvSpPr>
          <p:cNvPr id="33" name="feature-copy">
            <a:extLst xmlns:a="http://schemas.openxmlformats.org/drawingml/2006/main">
              <a:ext uri="{FF2B5EF4-FFF2-40B4-BE49-F238E27FC236}">
                <a16:creationId xmlns:a16="http://schemas.microsoft.com/office/drawing/2014/main" id="{0687A59F-0F48-491A-A93B-CC0C7578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956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67069"/>
                </a:solidFill>
                <a:latin typeface="DM Sans"/>
                <a:ea typeface="DM Sans"/>
                <a:cs typeface="DM Sans"/>
              </a:rPr>
              <a:t>Choose date, group size and traveller details.</a:t>
            </a:r>
          </a:p>
        </p:txBody>
      </p:sp>
      <p:sp>
        <p:nvSpPr>
          <p:cNvPr id="34" name="card">
            <a:extLst xmlns:a="http://schemas.openxmlformats.org/drawingml/2006/main">
              <a:ext uri="{FF2B5EF4-FFF2-40B4-BE49-F238E27FC236}">
                <a16:creationId xmlns:a16="http://schemas.microsoft.com/office/drawing/2014/main" id="{59B203E2-6513-4B77-B519-A3EEAF86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33909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icon-circle">
            <a:extLst xmlns:a="http://schemas.openxmlformats.org/drawingml/2006/main">
              <a:ext uri="{FF2B5EF4-FFF2-40B4-BE49-F238E27FC236}">
                <a16:creationId xmlns:a16="http://schemas.microsoft.com/office/drawing/2014/main" id="{ED284D1E-4035-47E3-8BD6-81356B5E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editable-icon">
            <a:extLst xmlns:a="http://schemas.openxmlformats.org/drawingml/2006/main">
              <a:ext uri="{FF2B5EF4-FFF2-40B4-BE49-F238E27FC236}">
                <a16:creationId xmlns:a16="http://schemas.microsoft.com/office/drawing/2014/main" id="{97176950-DF67-4CAE-A1C1-0E93D9E8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D2B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173D2B"/>
                </a:solidFill>
                <a:latin typeface="DM Sans"/>
                <a:ea typeface="DM Sans"/>
                <a:cs typeface="DM Sans"/>
              </a:rPr>
              <a:t>●</a:t>
            </a:r>
          </a:p>
        </p:txBody>
      </p:sp>
      <p:sp>
        <p:nvSpPr>
          <p:cNvPr id="37" name="feature-title">
            <a:extLst xmlns:a="http://schemas.openxmlformats.org/drawingml/2006/main">
              <a:ext uri="{FF2B5EF4-FFF2-40B4-BE49-F238E27FC236}">
                <a16:creationId xmlns:a16="http://schemas.microsoft.com/office/drawing/2014/main" id="{5265E15F-2CC8-4545-B411-AB9C13D2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007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165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rPr>
              <a:t>Demo Payment</a:t>
            </a:r>
          </a:p>
        </p:txBody>
      </p:sp>
      <p:sp>
        <p:nvSpPr>
          <p:cNvPr id="38" name="feature-copy">
            <a:extLst xmlns:a="http://schemas.openxmlformats.org/drawingml/2006/main">
              <a:ext uri="{FF2B5EF4-FFF2-40B4-BE49-F238E27FC236}">
                <a16:creationId xmlns:a16="http://schemas.microsoft.com/office/drawing/2014/main" id="{8F893FDE-E888-4C32-B84E-563D4969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625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67069"/>
                </a:solidFill>
                <a:latin typeface="DM Sans"/>
                <a:ea typeface="DM Sans"/>
                <a:cs typeface="DM Sans"/>
              </a:rPr>
              <a:t>Simulated checkout; no real card data is stored.</a:t>
            </a:r>
          </a:p>
        </p:txBody>
      </p:sp>
      <p:sp>
        <p:nvSpPr>
          <p:cNvPr id="39" name="card">
            <a:extLst xmlns:a="http://schemas.openxmlformats.org/drawingml/2006/main">
              <a:ext uri="{FF2B5EF4-FFF2-40B4-BE49-F238E27FC236}">
                <a16:creationId xmlns:a16="http://schemas.microsoft.com/office/drawing/2014/main" id="{24FC7ADF-AA2E-4F24-8871-B31470B3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71950"/>
            <a:ext cx="33909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icon-circle">
            <a:extLst xmlns:a="http://schemas.openxmlformats.org/drawingml/2006/main">
              <a:ext uri="{FF2B5EF4-FFF2-40B4-BE49-F238E27FC236}">
                <a16:creationId xmlns:a16="http://schemas.microsoft.com/office/drawing/2014/main" id="{D193E6C7-D1B9-4335-AFD6-97072077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00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editable-icon">
            <a:extLst xmlns:a="http://schemas.openxmlformats.org/drawingml/2006/main">
              <a:ext uri="{FF2B5EF4-FFF2-40B4-BE49-F238E27FC236}">
                <a16:creationId xmlns:a16="http://schemas.microsoft.com/office/drawing/2014/main" id="{2A5ECEDA-D0E5-41FB-9BF8-D9095EC4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196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D2B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173D2B"/>
                </a:solidFill>
                <a:latin typeface="DM Sans"/>
                <a:ea typeface="DM Sans"/>
                <a:cs typeface="DM Sans"/>
              </a:rPr>
              <a:t>#</a:t>
            </a:r>
          </a:p>
        </p:txBody>
      </p:sp>
      <p:sp>
        <p:nvSpPr>
          <p:cNvPr id="42" name="feature-title">
            <a:extLst xmlns:a="http://schemas.openxmlformats.org/drawingml/2006/main">
              <a:ext uri="{FF2B5EF4-FFF2-40B4-BE49-F238E27FC236}">
                <a16:creationId xmlns:a16="http://schemas.microsoft.com/office/drawing/2014/main" id="{1FCD18E1-DC4C-4031-A4C5-1B99C4B9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1007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165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rPr>
              <a:t>Confirmation</a:t>
            </a:r>
          </a:p>
        </p:txBody>
      </p:sp>
      <p:sp>
        <p:nvSpPr>
          <p:cNvPr id="43" name="feature-copy">
            <a:extLst xmlns:a="http://schemas.openxmlformats.org/drawingml/2006/main">
              <a:ext uri="{FF2B5EF4-FFF2-40B4-BE49-F238E27FC236}">
                <a16:creationId xmlns:a16="http://schemas.microsoft.com/office/drawing/2014/main" id="{13850DAF-64E1-4622-880D-2EEF65CE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7625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67069"/>
                </a:solidFill>
                <a:latin typeface="DM Sans"/>
                <a:ea typeface="DM Sans"/>
                <a:cs typeface="DM Sans"/>
              </a:rPr>
              <a:t>Get a booking reference and operator handoff.</a:t>
            </a:r>
          </a:p>
        </p:txBody>
      </p:sp>
      <p:sp>
        <p:nvSpPr>
          <p:cNvPr id="44" name="card">
            <a:extLst xmlns:a="http://schemas.openxmlformats.org/drawingml/2006/main">
              <a:ext uri="{FF2B5EF4-FFF2-40B4-BE49-F238E27FC236}">
                <a16:creationId xmlns:a16="http://schemas.microsoft.com/office/drawing/2014/main" id="{F567621C-343A-4B91-BF93-4F283603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71950"/>
            <a:ext cx="33909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icon-circle">
            <a:extLst xmlns:a="http://schemas.openxmlformats.org/drawingml/2006/main">
              <a:ext uri="{FF2B5EF4-FFF2-40B4-BE49-F238E27FC236}">
                <a16:creationId xmlns:a16="http://schemas.microsoft.com/office/drawing/2014/main" id="{DB64F1E8-7A01-41CB-996A-EBB31491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00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editable-icon">
            <a:extLst xmlns:a="http://schemas.openxmlformats.org/drawingml/2006/main">
              <a:ext uri="{FF2B5EF4-FFF2-40B4-BE49-F238E27FC236}">
                <a16:creationId xmlns:a16="http://schemas.microsoft.com/office/drawing/2014/main" id="{12EEAE0D-435C-4EBD-ACCC-E259E8A7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196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D2B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173D2B"/>
                </a:solidFill>
                <a:latin typeface="DM Sans"/>
                <a:ea typeface="DM Sans"/>
                <a:cs typeface="DM Sans"/>
              </a:rPr>
              <a:t>▱</a:t>
            </a:r>
          </a:p>
        </p:txBody>
      </p:sp>
      <p:sp>
        <p:nvSpPr>
          <p:cNvPr id="47" name="feature-title">
            <a:extLst xmlns:a="http://schemas.openxmlformats.org/drawingml/2006/main">
              <a:ext uri="{FF2B5EF4-FFF2-40B4-BE49-F238E27FC236}">
                <a16:creationId xmlns:a16="http://schemas.microsoft.com/office/drawing/2014/main" id="{5E9F0C57-C98E-4DF9-9F77-A378C375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1007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165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rPr>
              <a:t>Responsive Design</a:t>
            </a:r>
          </a:p>
        </p:txBody>
      </p:sp>
      <p:sp>
        <p:nvSpPr>
          <p:cNvPr id="48" name="feature-copy">
            <a:extLst xmlns:a="http://schemas.openxmlformats.org/drawingml/2006/main">
              <a:ext uri="{FF2B5EF4-FFF2-40B4-BE49-F238E27FC236}">
                <a16:creationId xmlns:a16="http://schemas.microsoft.com/office/drawing/2014/main" id="{77F54AFF-BD21-435C-BB68-06B3FF29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625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67069"/>
                </a:solidFill>
                <a:latin typeface="DM Sans"/>
                <a:ea typeface="DM Sans"/>
                <a:cs typeface="DM Sans"/>
              </a:rPr>
              <a:t>Adapts across desktop, tablet and mobile layouts.</a:t>
            </a:r>
          </a:p>
        </p:txBody>
      </p:sp>
    </p:spTree>
    <p:extLst>
      <p:ext uri="{BB962C8B-B14F-4D97-AF65-F5344CB8AC3E}">
        <p14:creationId xmlns:p14="http://schemas.microsoft.com/office/powerpoint/2010/main" val="15202306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5-index">
            <a:extLst xmlns:a="http://schemas.openxmlformats.org/drawingml/2006/main">
              <a:ext uri="{FF2B5EF4-FFF2-40B4-BE49-F238E27FC236}">
                <a16:creationId xmlns:a16="http://schemas.microsoft.com/office/drawing/2014/main" id="{B973F23F-8866-4909-8947-0BFC03CB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6A3A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D76A3A"/>
                </a:solidFill>
                <a:latin typeface="DM Sans"/>
                <a:ea typeface="DM Sans"/>
                <a:cs typeface="DM Sans"/>
              </a:rPr>
              <a:t>05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C027CB7B-54F6-4459-A6F1-339A0F5D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315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rPr>
              <a:t>Technology Stack</a:t>
            </a:r>
          </a:p>
        </p:txBody>
      </p:sp>
      <p:sp>
        <p:nvSpPr>
          <p:cNvPr id="3" name="slide-5-brand">
            <a:extLst xmlns:a="http://schemas.openxmlformats.org/drawingml/2006/main">
              <a:ext uri="{FF2B5EF4-FFF2-40B4-BE49-F238E27FC236}">
                <a16:creationId xmlns:a16="http://schemas.microsoft.com/office/drawing/2014/main" id="{5A74B8EF-9F90-4A9E-B2CD-4114C08A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530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6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67069"/>
                </a:solidFill>
                <a:latin typeface="DM Sans"/>
                <a:ea typeface="DM Sans"/>
                <a:cs typeface="DM Sans"/>
              </a:rPr>
              <a:t>MahaGetaways</a:t>
            </a:r>
          </a:p>
        </p:txBody>
      </p:sp>
      <p:sp>
        <p:nvSpPr>
          <p:cNvPr id="4" name="card">
            <a:extLst xmlns:a="http://schemas.openxmlformats.org/drawingml/2006/main">
              <a:ext uri="{FF2B5EF4-FFF2-40B4-BE49-F238E27FC236}">
                <a16:creationId xmlns:a16="http://schemas.microsoft.com/office/drawing/2014/main" id="{9F88FC9E-12C0-4485-AA29-D014967D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095875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icon-circle">
            <a:extLst xmlns:a="http://schemas.openxmlformats.org/drawingml/2006/main">
              <a:ext uri="{FF2B5EF4-FFF2-40B4-BE49-F238E27FC236}">
                <a16:creationId xmlns:a16="http://schemas.microsoft.com/office/drawing/2014/main" id="{C6682306-FA85-4E1C-8484-7C4F7E2B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38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ditable-icon">
            <a:extLst xmlns:a="http://schemas.openxmlformats.org/drawingml/2006/main">
              <a:ext uri="{FF2B5EF4-FFF2-40B4-BE49-F238E27FC236}">
                <a16:creationId xmlns:a16="http://schemas.microsoft.com/office/drawing/2014/main" id="{C40C2D77-B465-409D-8CB7-09DF0642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573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D2B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173D2B"/>
                </a:solidFill>
                <a:latin typeface="DM Sans"/>
                <a:ea typeface="DM Sans"/>
                <a:cs typeface="DM Sans"/>
              </a:rPr>
              <a:t>⌘</a:t>
            </a:r>
          </a:p>
        </p:txBody>
      </p:sp>
      <p:sp>
        <p:nvSpPr>
          <p:cNvPr id="7" name="stack-title">
            <a:extLst xmlns:a="http://schemas.openxmlformats.org/drawingml/2006/main">
              <a:ext uri="{FF2B5EF4-FFF2-40B4-BE49-F238E27FC236}">
                <a16:creationId xmlns:a16="http://schemas.microsoft.com/office/drawing/2014/main" id="{FF0139CE-2BE8-4479-A17A-2E61DC58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00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210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rPr>
              <a:t>Frontend</a:t>
            </a:r>
          </a:p>
        </p:txBody>
      </p:sp>
      <p:sp>
        <p:nvSpPr>
          <p:cNvPr id="8" name="stack-items">
            <a:extLst xmlns:a="http://schemas.openxmlformats.org/drawingml/2006/main">
              <a:ext uri="{FF2B5EF4-FFF2-40B4-BE49-F238E27FC236}">
                <a16:creationId xmlns:a16="http://schemas.microsoft.com/office/drawing/2014/main" id="{ACADF2C5-4956-471C-9DA0-9D14FDBC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095500"/>
            <a:ext cx="38195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9"/>
                </a:solidFill>
                <a:latin typeface="DM Sans"/>
                <a:ea typeface="DM Sans"/>
                <a:cs typeface="DM Sans"/>
              </a:defRPr>
            </a:pPr>
            <a:r>
              <a:rPr sz="1350" b="0">
                <a:solidFill>
                  <a:srgbClr val="667069"/>
                </a:solidFill>
                <a:latin typeface="DM Sans"/>
                <a:ea typeface="DM Sans"/>
                <a:cs typeface="DM Sans"/>
              </a:rPr>
              <a:t>• Next.js 16</a:t>
            </a:r>
          </a:p>
          <a:p xmlns:a="http://schemas.openxmlformats.org/drawingml/2006/main">
            <a:pPr algn="l">
              <a:defRPr sz="1350" b="0">
                <a:solidFill>
                  <a:srgbClr val="667069"/>
                </a:solidFill>
                <a:latin typeface="DM Sans"/>
                <a:ea typeface="DM Sans"/>
                <a:cs typeface="DM Sans"/>
              </a:defRPr>
            </a:pPr>
            <a:r>
              <a:rPr sz="1350" b="0">
                <a:solidFill>
                  <a:srgbClr val="667069"/>
                </a:solidFill>
                <a:latin typeface="DM Sans"/>
                <a:ea typeface="DM Sans"/>
                <a:cs typeface="DM Sans"/>
              </a:rPr>
              <a:t>• React</a:t>
            </a:r>
          </a:p>
          <a:p xmlns:a="http://schemas.openxmlformats.org/drawingml/2006/main">
            <a:pPr algn="l">
              <a:defRPr sz="1350" b="0">
                <a:solidFill>
                  <a:srgbClr val="667069"/>
                </a:solidFill>
                <a:latin typeface="DM Sans"/>
                <a:ea typeface="DM Sans"/>
                <a:cs typeface="DM Sans"/>
              </a:defRPr>
            </a:pPr>
            <a:r>
              <a:rPr sz="1350" b="0">
                <a:solidFill>
                  <a:srgbClr val="667069"/>
                </a:solidFill>
                <a:latin typeface="DM Sans"/>
                <a:ea typeface="DM Sans"/>
                <a:cs typeface="DM Sans"/>
              </a:rPr>
              <a:t>• HTML, CSS, JavaScript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5C7DC8E8-6EDF-4F88-9C69-6001432F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14450"/>
            <a:ext cx="5095875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73D2B"/>
          </a:solidFill>
          <a:ln xmlns:a="http://schemas.openxmlformats.org/drawingml/2006/main" w="11430">
            <a:solidFill>
              <a:srgbClr val="173D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icon-circle">
            <a:extLst xmlns:a="http://schemas.openxmlformats.org/drawingml/2006/main">
              <a:ext uri="{FF2B5EF4-FFF2-40B4-BE49-F238E27FC236}">
                <a16:creationId xmlns:a16="http://schemas.microsoft.com/office/drawing/2014/main" id="{DA152605-94E5-4315-A8AC-C56AD4DE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38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ditable-icon">
            <a:extLst xmlns:a="http://schemas.openxmlformats.org/drawingml/2006/main">
              <a:ext uri="{FF2B5EF4-FFF2-40B4-BE49-F238E27FC236}">
                <a16:creationId xmlns:a16="http://schemas.microsoft.com/office/drawing/2014/main" id="{0F3BAF30-7058-4F3A-8517-FA2315F1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573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D2B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173D2B"/>
                </a:solidFill>
                <a:latin typeface="DM Sans"/>
                <a:ea typeface="DM Sans"/>
                <a:cs typeface="DM Sans"/>
              </a:rPr>
              <a:t>{}</a:t>
            </a:r>
          </a:p>
        </p:txBody>
      </p:sp>
      <p:sp>
        <p:nvSpPr>
          <p:cNvPr id="12" name="stack-title">
            <a:extLst xmlns:a="http://schemas.openxmlformats.org/drawingml/2006/main">
              <a:ext uri="{FF2B5EF4-FFF2-40B4-BE49-F238E27FC236}">
                <a16:creationId xmlns:a16="http://schemas.microsoft.com/office/drawing/2014/main" id="{A4559D26-5054-4BEB-9E30-DB0CF822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600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BFAF5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2100" b="0">
                <a:solidFill>
                  <a:srgbClr val="FBFAF5"/>
                </a:solidFill>
                <a:latin typeface="DM Serif Display"/>
                <a:ea typeface="DM Serif Display"/>
                <a:cs typeface="DM Serif Display"/>
              </a:rPr>
              <a:t>Backend</a:t>
            </a:r>
          </a:p>
        </p:txBody>
      </p:sp>
      <p:sp>
        <p:nvSpPr>
          <p:cNvPr id="13" name="stack-items">
            <a:extLst xmlns:a="http://schemas.openxmlformats.org/drawingml/2006/main">
              <a:ext uri="{FF2B5EF4-FFF2-40B4-BE49-F238E27FC236}">
                <a16:creationId xmlns:a16="http://schemas.microsoft.com/office/drawing/2014/main" id="{0E7A2E40-57EE-4001-A345-5681C4B3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38195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  <a:latin typeface="DM Sans"/>
                <a:ea typeface="DM Sans"/>
                <a:cs typeface="DM Sans"/>
              </a:defRPr>
            </a:pPr>
            <a:r>
              <a:rPr sz="1350" b="0">
                <a:solidFill>
                  <a:srgbClr val="F4F0E6"/>
                </a:solidFill>
                <a:latin typeface="DM Sans"/>
                <a:ea typeface="DM Sans"/>
                <a:cs typeface="DM Sans"/>
              </a:rPr>
              <a:t>• Next.js API Routes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  <a:latin typeface="DM Sans"/>
                <a:ea typeface="DM Sans"/>
                <a:cs typeface="DM Sans"/>
              </a:defRPr>
            </a:pPr>
            <a:r>
              <a:rPr sz="1350" b="0">
                <a:solidFill>
                  <a:srgbClr val="F4F0E6"/>
                </a:solidFill>
                <a:latin typeface="DM Sans"/>
                <a:ea typeface="DM Sans"/>
                <a:cs typeface="DM Sans"/>
              </a:rPr>
              <a:t>• Server-side validation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  <a:latin typeface="DM Sans"/>
                <a:ea typeface="DM Sans"/>
                <a:cs typeface="DM Sans"/>
              </a:defRPr>
            </a:pPr>
            <a:r>
              <a:rPr sz="1350" b="0">
                <a:solidFill>
                  <a:srgbClr val="F4F0E6"/>
                </a:solidFill>
                <a:latin typeface="DM Sans"/>
                <a:ea typeface="DM Sans"/>
                <a:cs typeface="DM Sans"/>
              </a:rPr>
              <a:t>• Booking reference generation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  <a:latin typeface="DM Sans"/>
                <a:ea typeface="DM Sans"/>
                <a:cs typeface="DM Sans"/>
              </a:defRPr>
            </a:pPr>
            <a:r>
              <a:rPr sz="1350" b="0">
                <a:solidFill>
                  <a:srgbClr val="F4F0E6"/>
                </a:solidFill>
                <a:latin typeface="DM Sans"/>
                <a:ea typeface="DM Sans"/>
                <a:cs typeface="DM Sans"/>
              </a:rPr>
              <a:t>• Pricing calculation</a:t>
            </a:r>
          </a:p>
        </p:txBody>
      </p:sp>
      <p:sp>
        <p:nvSpPr>
          <p:cNvPr id="14" name="card">
            <a:extLst xmlns:a="http://schemas.openxmlformats.org/drawingml/2006/main">
              <a:ext uri="{FF2B5EF4-FFF2-40B4-BE49-F238E27FC236}">
                <a16:creationId xmlns:a16="http://schemas.microsoft.com/office/drawing/2014/main" id="{AFA91870-80A9-4D61-9768-BAD96B5F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5095875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icon-circle">
            <a:extLst xmlns:a="http://schemas.openxmlformats.org/drawingml/2006/main">
              <a:ext uri="{FF2B5EF4-FFF2-40B4-BE49-F238E27FC236}">
                <a16:creationId xmlns:a16="http://schemas.microsoft.com/office/drawing/2014/main" id="{051DAD08-9882-42CA-9C58-049F5E3A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ditable-icon">
            <a:extLst xmlns:a="http://schemas.openxmlformats.org/drawingml/2006/main">
              <a:ext uri="{FF2B5EF4-FFF2-40B4-BE49-F238E27FC236}">
                <a16:creationId xmlns:a16="http://schemas.microsoft.com/office/drawing/2014/main" id="{D2E7E957-1294-4AA2-A79B-F26CF43F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D2B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173D2B"/>
                </a:solidFill>
                <a:latin typeface="DM Sans"/>
                <a:ea typeface="DM Sans"/>
                <a:cs typeface="DM Sans"/>
              </a:rPr>
              <a:t>↗</a:t>
            </a:r>
          </a:p>
        </p:txBody>
      </p:sp>
      <p:sp>
        <p:nvSpPr>
          <p:cNvPr id="17" name="stack-title">
            <a:extLst xmlns:a="http://schemas.openxmlformats.org/drawingml/2006/main">
              <a:ext uri="{FF2B5EF4-FFF2-40B4-BE49-F238E27FC236}">
                <a16:creationId xmlns:a16="http://schemas.microsoft.com/office/drawing/2014/main" id="{E76683DF-4AAC-49CD-98F5-51151338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62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210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rPr>
              <a:t>Deployment</a:t>
            </a:r>
          </a:p>
        </p:txBody>
      </p:sp>
      <p:sp>
        <p:nvSpPr>
          <p:cNvPr id="18" name="stack-items">
            <a:extLst xmlns:a="http://schemas.openxmlformats.org/drawingml/2006/main">
              <a:ext uri="{FF2B5EF4-FFF2-40B4-BE49-F238E27FC236}">
                <a16:creationId xmlns:a16="http://schemas.microsoft.com/office/drawing/2014/main" id="{33F540C3-EEB2-4C50-A97D-5D2FBED7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57700"/>
            <a:ext cx="38195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9"/>
                </a:solidFill>
                <a:latin typeface="DM Sans"/>
                <a:ea typeface="DM Sans"/>
                <a:cs typeface="DM Sans"/>
              </a:defRPr>
            </a:pPr>
            <a:r>
              <a:rPr sz="1350" b="0">
                <a:solidFill>
                  <a:srgbClr val="667069"/>
                </a:solidFill>
                <a:latin typeface="DM Sans"/>
                <a:ea typeface="DM Sans"/>
                <a:cs typeface="DM Sans"/>
              </a:rPr>
              <a:t>• Vercel</a:t>
            </a:r>
          </a:p>
        </p:txBody>
      </p:sp>
      <p:sp>
        <p:nvSpPr>
          <p:cNvPr id="19" name="card">
            <a:extLst xmlns:a="http://schemas.openxmlformats.org/drawingml/2006/main">
              <a:ext uri="{FF2B5EF4-FFF2-40B4-BE49-F238E27FC236}">
                <a16:creationId xmlns:a16="http://schemas.microsoft.com/office/drawing/2014/main" id="{4D1C5D6F-9CEF-407F-B763-E03A2F53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76650"/>
            <a:ext cx="5095875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icon-circle">
            <a:extLst xmlns:a="http://schemas.openxmlformats.org/drawingml/2006/main">
              <a:ext uri="{FF2B5EF4-FFF2-40B4-BE49-F238E27FC236}">
                <a16:creationId xmlns:a16="http://schemas.microsoft.com/office/drawing/2014/main" id="{E67EB620-C739-43B9-B80E-45E42A4D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editable-icon">
            <a:extLst xmlns:a="http://schemas.openxmlformats.org/drawingml/2006/main">
              <a:ext uri="{FF2B5EF4-FFF2-40B4-BE49-F238E27FC236}">
                <a16:creationId xmlns:a16="http://schemas.microsoft.com/office/drawing/2014/main" id="{0ECD5A73-C007-44C1-810C-C2805710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95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D2B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173D2B"/>
                </a:solidFill>
                <a:latin typeface="DM Sans"/>
                <a:ea typeface="DM Sans"/>
                <a:cs typeface="DM Sans"/>
              </a:rPr>
              <a:t>◇</a:t>
            </a:r>
          </a:p>
        </p:txBody>
      </p:sp>
      <p:sp>
        <p:nvSpPr>
          <p:cNvPr id="22" name="stack-title">
            <a:extLst xmlns:a="http://schemas.openxmlformats.org/drawingml/2006/main">
              <a:ext uri="{FF2B5EF4-FFF2-40B4-BE49-F238E27FC236}">
                <a16:creationId xmlns:a16="http://schemas.microsoft.com/office/drawing/2014/main" id="{C3B3F7FC-686D-4B29-A86D-3794B850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62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210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rPr>
              <a:t>Development</a:t>
            </a:r>
          </a:p>
        </p:txBody>
      </p:sp>
      <p:sp>
        <p:nvSpPr>
          <p:cNvPr id="23" name="stack-items">
            <a:extLst xmlns:a="http://schemas.openxmlformats.org/drawingml/2006/main">
              <a:ext uri="{FF2B5EF4-FFF2-40B4-BE49-F238E27FC236}">
                <a16:creationId xmlns:a16="http://schemas.microsoft.com/office/drawing/2014/main" id="{FBC4F55B-B82B-443D-AAED-42FFABAB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57700"/>
            <a:ext cx="38195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9"/>
                </a:solidFill>
                <a:latin typeface="DM Sans"/>
                <a:ea typeface="DM Sans"/>
                <a:cs typeface="DM Sans"/>
              </a:defRPr>
            </a:pPr>
            <a:r>
              <a:rPr sz="1350" b="0">
                <a:solidFill>
                  <a:srgbClr val="667069"/>
                </a:solidFill>
                <a:latin typeface="DM Sans"/>
                <a:ea typeface="DM Sans"/>
                <a:cs typeface="DM Sans"/>
              </a:rPr>
              <a:t>• Git</a:t>
            </a:r>
          </a:p>
          <a:p xmlns:a="http://schemas.openxmlformats.org/drawingml/2006/main">
            <a:pPr algn="l">
              <a:defRPr sz="1350" b="0">
                <a:solidFill>
                  <a:srgbClr val="667069"/>
                </a:solidFill>
                <a:latin typeface="DM Sans"/>
                <a:ea typeface="DM Sans"/>
                <a:cs typeface="DM Sans"/>
              </a:defRPr>
            </a:pPr>
            <a:r>
              <a:rPr sz="1350" b="0">
                <a:solidFill>
                  <a:srgbClr val="667069"/>
                </a:solidFill>
                <a:latin typeface="DM Sans"/>
                <a:ea typeface="DM Sans"/>
                <a:cs typeface="DM Sans"/>
              </a:rPr>
              <a:t>• GitHub</a:t>
            </a:r>
          </a:p>
        </p:txBody>
      </p:sp>
    </p:spTree>
    <p:extLst>
      <p:ext uri="{BB962C8B-B14F-4D97-AF65-F5344CB8AC3E}">
        <p14:creationId xmlns:p14="http://schemas.microsoft.com/office/powerpoint/2010/main" val="2779688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2B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6-index">
            <a:extLst xmlns:a="http://schemas.openxmlformats.org/drawingml/2006/main">
              <a:ext uri="{FF2B5EF4-FFF2-40B4-BE49-F238E27FC236}">
                <a16:creationId xmlns:a16="http://schemas.microsoft.com/office/drawing/2014/main" id="{623E699F-6B5A-4CB2-9C3C-AE75CC0D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0E6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F4F0E6"/>
                </a:solidFill>
                <a:latin typeface="DM Sans"/>
                <a:ea typeface="DM Sans"/>
                <a:cs typeface="DM Sans"/>
              </a:rPr>
              <a:t>06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904489B5-4CE5-41C6-AD51-1365DC42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BFAF5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3150" b="0">
                <a:solidFill>
                  <a:srgbClr val="FBFAF5"/>
                </a:solidFill>
                <a:latin typeface="DM Serif Display"/>
                <a:ea typeface="DM Serif Display"/>
                <a:cs typeface="DM Serif Display"/>
              </a:rPr>
              <a:t>Future Roadmap</a:t>
            </a:r>
          </a:p>
        </p:txBody>
      </p:sp>
      <p:sp>
        <p:nvSpPr>
          <p:cNvPr id="3" name="slide-6-brand">
            <a:extLst xmlns:a="http://schemas.openxmlformats.org/drawingml/2006/main">
              <a:ext uri="{FF2B5EF4-FFF2-40B4-BE49-F238E27FC236}">
                <a16:creationId xmlns:a16="http://schemas.microsoft.com/office/drawing/2014/main" id="{3A9D57B3-6607-4B43-A22D-E76CEC6B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530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4F0E6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F4F0E6"/>
                </a:solidFill>
                <a:latin typeface="DM Sans"/>
                <a:ea typeface="DM Sans"/>
                <a:cs typeface="DM Sans"/>
              </a:rPr>
              <a:t>MahaGetaways</a:t>
            </a:r>
          </a:p>
        </p:txBody>
      </p:sp>
      <p:sp>
        <p:nvSpPr>
          <p:cNvPr id="4" name="card">
            <a:extLst xmlns:a="http://schemas.openxmlformats.org/drawingml/2006/main">
              <a:ext uri="{FF2B5EF4-FFF2-40B4-BE49-F238E27FC236}">
                <a16:creationId xmlns:a16="http://schemas.microsoft.com/office/drawing/2014/main" id="{FE6B2C44-646B-445F-8699-01127853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337185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11430">
            <a:solidFill>
              <a:srgbClr val="F4F0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oadmap-title">
            <a:extLst xmlns:a="http://schemas.openxmlformats.org/drawingml/2006/main">
              <a:ext uri="{FF2B5EF4-FFF2-40B4-BE49-F238E27FC236}">
                <a16:creationId xmlns:a16="http://schemas.microsoft.com/office/drawing/2014/main" id="{5D9B610D-2D8C-4F0A-AC15-D183330E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210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rPr>
              <a:t>Platform</a:t>
            </a:r>
          </a:p>
        </p:txBody>
      </p:sp>
      <p:sp>
        <p:nvSpPr>
          <p:cNvPr id="6" name="roadmap-items">
            <a:extLst xmlns:a="http://schemas.openxmlformats.org/drawingml/2006/main">
              <a:ext uri="{FF2B5EF4-FFF2-40B4-BE49-F238E27FC236}">
                <a16:creationId xmlns:a16="http://schemas.microsoft.com/office/drawing/2014/main" id="{81E41964-DFA9-4669-A684-2B1EC238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28003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1D"/>
                </a:solidFill>
                <a:latin typeface="DM Sans"/>
                <a:ea typeface="DM Sans"/>
                <a:cs typeface="DM Sans"/>
              </a:defRPr>
            </a:pPr>
            <a:r>
              <a:rPr sz="1425" b="0">
                <a:solidFill>
                  <a:srgbClr val="17231D"/>
                </a:solidFill>
                <a:latin typeface="DM Sans"/>
                <a:ea typeface="DM Sans"/>
                <a:cs typeface="DM Sans"/>
              </a:rPr>
              <a:t>• Authentication</a:t>
            </a:r>
          </a:p>
          <a:p xmlns:a="http://schemas.openxmlformats.org/drawingml/2006/main">
            <a:pPr algn="l">
              <a:defRPr sz="1425" b="0">
                <a:solidFill>
                  <a:srgbClr val="17231D"/>
                </a:solidFill>
                <a:latin typeface="DM Sans"/>
                <a:ea typeface="DM Sans"/>
                <a:cs typeface="DM Sans"/>
              </a:defRPr>
            </a:pPr>
            <a:r>
              <a:rPr sz="1425" b="0">
                <a:solidFill>
                  <a:srgbClr val="17231D"/>
                </a:solidFill>
                <a:latin typeface="DM Sans"/>
                <a:ea typeface="DM Sans"/>
                <a:cs typeface="DM Sans"/>
              </a:rPr>
              <a:t>• Operator Dashboard</a:t>
            </a:r>
          </a:p>
          <a:p xmlns:a="http://schemas.openxmlformats.org/drawingml/2006/main">
            <a:pPr algn="l">
              <a:defRPr sz="1425" b="0">
                <a:solidFill>
                  <a:srgbClr val="17231D"/>
                </a:solidFill>
                <a:latin typeface="DM Sans"/>
                <a:ea typeface="DM Sans"/>
                <a:cs typeface="DM Sans"/>
              </a:defRPr>
            </a:pPr>
            <a:r>
              <a:rPr sz="1425" b="0">
                <a:solidFill>
                  <a:srgbClr val="17231D"/>
                </a:solidFill>
                <a:latin typeface="DM Sans"/>
                <a:ea typeface="DM Sans"/>
                <a:cs typeface="DM Sans"/>
              </a:rPr>
              <a:t>• Verified Reviews</a:t>
            </a:r>
          </a:p>
        </p:txBody>
      </p:sp>
      <p:sp>
        <p:nvSpPr>
          <p:cNvPr id="7" name="roadmap-dot">
            <a:extLst xmlns:a="http://schemas.openxmlformats.org/drawingml/2006/main">
              <a:ext uri="{FF2B5EF4-FFF2-40B4-BE49-F238E27FC236}">
                <a16:creationId xmlns:a16="http://schemas.microsoft.com/office/drawing/2014/main" id="{D72C16FA-B3A4-4DC3-88D0-3D4F8BC3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09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6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E1EAAFBF-536D-4468-92C5-9C24C110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28750"/>
            <a:ext cx="337185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11430">
            <a:solidFill>
              <a:srgbClr val="F4F0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roadmap-title">
            <a:extLst xmlns:a="http://schemas.openxmlformats.org/drawingml/2006/main">
              <a:ext uri="{FF2B5EF4-FFF2-40B4-BE49-F238E27FC236}">
                <a16:creationId xmlns:a16="http://schemas.microsoft.com/office/drawing/2014/main" id="{155CCF62-EF0A-441A-BAA2-45A47377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526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210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rPr>
              <a:t>Booking</a:t>
            </a:r>
          </a:p>
        </p:txBody>
      </p:sp>
      <p:sp>
        <p:nvSpPr>
          <p:cNvPr id="10" name="roadmap-items">
            <a:extLst xmlns:a="http://schemas.openxmlformats.org/drawingml/2006/main">
              <a:ext uri="{FF2B5EF4-FFF2-40B4-BE49-F238E27FC236}">
                <a16:creationId xmlns:a16="http://schemas.microsoft.com/office/drawing/2014/main" id="{72007C6E-E1CA-4629-95B4-F0CD4482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8003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1D"/>
                </a:solidFill>
                <a:latin typeface="DM Sans"/>
                <a:ea typeface="DM Sans"/>
                <a:cs typeface="DM Sans"/>
              </a:defRPr>
            </a:pPr>
            <a:r>
              <a:rPr sz="1425" b="0">
                <a:solidFill>
                  <a:srgbClr val="17231D"/>
                </a:solidFill>
                <a:latin typeface="DM Sans"/>
                <a:ea typeface="DM Sans"/>
                <a:cs typeface="DM Sans"/>
              </a:rPr>
              <a:t>• Stripe Integration</a:t>
            </a:r>
          </a:p>
          <a:p xmlns:a="http://schemas.openxmlformats.org/drawingml/2006/main">
            <a:pPr algn="l">
              <a:defRPr sz="1425" b="0">
                <a:solidFill>
                  <a:srgbClr val="17231D"/>
                </a:solidFill>
                <a:latin typeface="DM Sans"/>
                <a:ea typeface="DM Sans"/>
                <a:cs typeface="DM Sans"/>
              </a:defRPr>
            </a:pPr>
            <a:r>
              <a:rPr sz="1425" b="0">
                <a:solidFill>
                  <a:srgbClr val="17231D"/>
                </a:solidFill>
                <a:latin typeface="DM Sans"/>
                <a:ea typeface="DM Sans"/>
                <a:cs typeface="DM Sans"/>
              </a:rPr>
              <a:t>• Database Storage</a:t>
            </a:r>
          </a:p>
          <a:p xmlns:a="http://schemas.openxmlformats.org/drawingml/2006/main">
            <a:pPr algn="l">
              <a:defRPr sz="1425" b="0">
                <a:solidFill>
                  <a:srgbClr val="17231D"/>
                </a:solidFill>
                <a:latin typeface="DM Sans"/>
                <a:ea typeface="DM Sans"/>
                <a:cs typeface="DM Sans"/>
              </a:defRPr>
            </a:pPr>
            <a:r>
              <a:rPr sz="1425" b="0">
                <a:solidFill>
                  <a:srgbClr val="17231D"/>
                </a:solidFill>
                <a:latin typeface="DM Sans"/>
                <a:ea typeface="DM Sans"/>
                <a:cs typeface="DM Sans"/>
              </a:rPr>
              <a:t>• Live Availability</a:t>
            </a:r>
          </a:p>
        </p:txBody>
      </p:sp>
      <p:sp>
        <p:nvSpPr>
          <p:cNvPr id="11" name="roadmap-dot">
            <a:extLst xmlns:a="http://schemas.openxmlformats.org/drawingml/2006/main">
              <a:ext uri="{FF2B5EF4-FFF2-40B4-BE49-F238E27FC236}">
                <a16:creationId xmlns:a16="http://schemas.microsoft.com/office/drawing/2014/main" id="{AF242483-4803-47FC-8031-252F8977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6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ard">
            <a:extLst xmlns:a="http://schemas.openxmlformats.org/drawingml/2006/main">
              <a:ext uri="{FF2B5EF4-FFF2-40B4-BE49-F238E27FC236}">
                <a16:creationId xmlns:a16="http://schemas.microsoft.com/office/drawing/2014/main" id="{9FC6C2F2-90E4-4CA3-9CE1-305F7FD1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337185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11430">
            <a:solidFill>
              <a:srgbClr val="F4F0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oadmap-title">
            <a:extLst xmlns:a="http://schemas.openxmlformats.org/drawingml/2006/main">
              <a:ext uri="{FF2B5EF4-FFF2-40B4-BE49-F238E27FC236}">
                <a16:creationId xmlns:a16="http://schemas.microsoft.com/office/drawing/2014/main" id="{A7D1BA8E-25F1-46B9-852A-C9A1C982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526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2100" b="0">
                <a:solidFill>
                  <a:srgbClr val="173D2B"/>
                </a:solidFill>
                <a:latin typeface="DM Serif Display"/>
                <a:ea typeface="DM Serif Display"/>
                <a:cs typeface="DM Serif Display"/>
              </a:rPr>
              <a:t>Experience</a:t>
            </a:r>
          </a:p>
        </p:txBody>
      </p:sp>
      <p:sp>
        <p:nvSpPr>
          <p:cNvPr id="14" name="roadmap-items">
            <a:extLst xmlns:a="http://schemas.openxmlformats.org/drawingml/2006/main">
              <a:ext uri="{FF2B5EF4-FFF2-40B4-BE49-F238E27FC236}">
                <a16:creationId xmlns:a16="http://schemas.microsoft.com/office/drawing/2014/main" id="{E59A99F1-263B-4A35-BC84-58989B56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62200"/>
            <a:ext cx="28003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1D"/>
                </a:solidFill>
                <a:latin typeface="DM Sans"/>
                <a:ea typeface="DM Sans"/>
                <a:cs typeface="DM Sans"/>
              </a:defRPr>
            </a:pPr>
            <a:r>
              <a:rPr sz="1425" b="0">
                <a:solidFill>
                  <a:srgbClr val="17231D"/>
                </a:solidFill>
                <a:latin typeface="DM Sans"/>
                <a:ea typeface="DM Sans"/>
                <a:cs typeface="DM Sans"/>
              </a:rPr>
              <a:t>• Email / SMS / WhatsApp confirmations</a:t>
            </a:r>
          </a:p>
          <a:p xmlns:a="http://schemas.openxmlformats.org/drawingml/2006/main">
            <a:pPr algn="l">
              <a:defRPr sz="1425" b="0">
                <a:solidFill>
                  <a:srgbClr val="17231D"/>
                </a:solidFill>
                <a:latin typeface="DM Sans"/>
                <a:ea typeface="DM Sans"/>
                <a:cs typeface="DM Sans"/>
              </a:defRPr>
            </a:pPr>
            <a:r>
              <a:rPr sz="1425" b="0">
                <a:solidFill>
                  <a:srgbClr val="17231D"/>
                </a:solidFill>
                <a:latin typeface="DM Sans"/>
                <a:ea typeface="DM Sans"/>
                <a:cs typeface="DM Sans"/>
              </a:rPr>
              <a:t>• Cancellation &amp; Refund workflows</a:t>
            </a:r>
          </a:p>
        </p:txBody>
      </p:sp>
      <p:sp>
        <p:nvSpPr>
          <p:cNvPr id="15" name="roadmap-dot">
            <a:extLst xmlns:a="http://schemas.openxmlformats.org/drawingml/2006/main">
              <a:ext uri="{FF2B5EF4-FFF2-40B4-BE49-F238E27FC236}">
                <a16:creationId xmlns:a16="http://schemas.microsoft.com/office/drawing/2014/main" id="{7932F429-A027-450D-BCAE-800C8130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809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6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vision-band">
            <a:extLst xmlns:a="http://schemas.openxmlformats.org/drawingml/2006/main">
              <a:ext uri="{FF2B5EF4-FFF2-40B4-BE49-F238E27FC236}">
                <a16:creationId xmlns:a16="http://schemas.microsoft.com/office/drawing/2014/main" id="{CCA99D83-1CA4-4748-826E-658A71FD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3D2B"/>
          </a:solidFill>
          <a:ln xmlns:a="http://schemas.openxmlformats.org/drawingml/2006/main" w="0">
            <a:solidFill>
              <a:srgbClr val="173D2B"/>
            </a:solidFill>
            <a:prstDash val="solid"/>
          </a:ln>
        </p:spPr>
      </p:sp>
      <p:sp>
        <p:nvSpPr>
          <p:cNvPr id="17" name="vision-quote">
            <a:extLst xmlns:a="http://schemas.openxmlformats.org/drawingml/2006/main">
              <a:ext uri="{FF2B5EF4-FFF2-40B4-BE49-F238E27FC236}">
                <a16:creationId xmlns:a16="http://schemas.microsoft.com/office/drawing/2014/main" id="{556DD7F6-5A54-41F1-A1E8-BDBA76DE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29200"/>
            <a:ext cx="9944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BFAF5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1800" b="0">
                <a:solidFill>
                  <a:srgbClr val="FBFAF5"/>
                </a:solidFill>
                <a:latin typeface="DM Serif Display"/>
                <a:ea typeface="DM Serif Display"/>
                <a:cs typeface="DM Serif Display"/>
              </a:rPr>
              <a:t>“Our goal is to make outdoor adventures across Maharashtra easier to discover while helping local operators reach more travellers through one trusted marketplace.”</a:t>
            </a:r>
          </a:p>
        </p:txBody>
      </p:sp>
    </p:spTree>
    <p:extLst>
      <p:ext uri="{BB962C8B-B14F-4D97-AF65-F5344CB8AC3E}">
        <p14:creationId xmlns:p14="http://schemas.microsoft.com/office/powerpoint/2010/main" val="21195948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2026-06-26T01:13:48.0610000Z</dcterms:created>
  <dcterms:modified xsi:type="dcterms:W3CDTF">2026-06-26T01:13:48.0610000Z</dcterms:modified>
</coreProperties>
</file>